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5 o’Claude, and this is Taxability. Open with the number and pause. 8.000 euros is how much one single mom of a disabled child in Germany can miss in her first year, during her tax return. It’s about two months of take-home pay for someone like Lisa. It isn’t fraud or a loophole: it’s money German law already gives her. She just doesn’t know it exists, because the tax app asks about her, not about her child. Illustrative estimate for Lisa’s case under 2026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Lisa is a composite persona. She’s 35, a nurse, new in Germany with German at B1, and raising five-year-old Tina alone. The Kita noticed Tina “acts differently” with change and noise; the doctor referred her; after months of waiting, the diagnosis was autism. Now it’s speech and occupational therapy, early intervention and a Kita helper, about six hours a week. Lisa is capable and organised, but she just landed in a system written in a language and logic she doesn’t know yet. Lisa is now Tina’s care manager and advocate, and the money side gets dropped. And tax season arrives right when she has the least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wasted. What does Lisa do today, with no automation? Three numbers. First, about 30 to 40 hours, a full work week, mostly at night: 10 to 15 hours finding out what she’s entitled to, 6 to 8 on the tax return, 4 to 6 each on the disability ID application, the care level application, and translating letters herself. Second, if she pays instead: a tax advisor at 300 to 800 euros and a translator at 200 to 500 euros, up to 1.300 euros, and most advisors still won’t file the disability or care applications. Third, about 150 appointments a year that Lisa has to book, reschedule and attend: roughly three therapy sessions a week over about 45 weeks, plus paediatrician visits, the specialist assessment, the care-level assessor and office appointments. That’s about six hours a week, or 300 hours a year, on top of a full-time job. And she has to deal with five offices and 12 or more forms in her first year: the tax return and its annexes plus the tax-class change for the Finanzamt, child benefit for the Familienkasse, the disability ID for the Versorgungsamt, the care level and relief-budget claims for the Pflegekasse, and early intervention and a Kita support worker for the Jugendamt or social office. None of them tells her about the others. These are our team’s estimates; we’ll validate them with parents.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First, the group is growing: health insurer hkk’s data shows the share of young people up to 24 with an autism diagnosis went from 0.41 percent in 2013 to 1 percent in 2024, roughly 8 percent more every year. Applied to Germany’s roughly 20 million people aged 0 to 24, that’s about 200.000 young people with a diagnosis today, about 10.000 more each year. That’s our own extrapolation; no official national count exists, and it’s billing data from one insurer. Second, across all disabilities: 231.000 children under 18 had a severe-disability ID at the end of 2025, according to Destatis, up from 174.000 in 2015, roughly 3 percent or 6.000 more a year. Destatis says comparisons with earlier years are limited because of data clean-ups in Hesse and Saxony. Third, the money: we estimate 1.000 to 2.000 core families like Lisa’s. Each misses about 8.000 euros a year, so 8 to 16 million euros a year in total, and about 104.000 euros per family from age 5 to 18, or 104 to 208 million in total. Invested at an assumed 5 percent instead, it could be about 140.000 euros per family by age 18. Illustrative, not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hurt parents like Lisa most, and here’s how the alternatives compare. One: she can’t read the letters. Tax apps run in German and English at best, chatbots translate but generically, advice centres help partly. Taxability explains every letter in her own language. Two: she doesn’t know what she’s entitled to. Tax apps cover part of it, chatbots don’t know her case. Taxability finds the single-parent relief, the disability lump sum and the care benefits, each with the law behind it. Three: the paperwork never ends. Tax apps only do the tax return, chatbots stop at explaining. Taxability fills in the forms, books appointments, and stores and translates documents. AI tax explainers already exist, WISO SteuerGPT, ChatGPT, and Taxfix is reported to be building an agent. None is built for Lisa. Don’t claim that no competitor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reach Lisa through people she already trusts. First, the social-paediatric centres, the SPZ, where children like Tina get diagnosed: that’s the moment a family enters this maze. Then Sputnik, an organisation for kids with disabilities, where our domain expert Julia volunteers, so it’s our first warm contact, not a partnership. Then migration advice centres, disability counselling offices and single-parent associations: MBE had 922 migration advice centres in 2023, EUTB has over 800 disability advice offices, and VAMV is the single-parent association. Then we meet her inside Taxfix at the moment she files her return. Taxfix already works with partners through codes and links, like its N26 offer, so a link is the realistic first step; a built-in module comes later. The partner pays, not the parent, and we never hold her money: it goes straight to the account provider. These are planned routes, and we have no commitments yet. Don’t claim a partnership with Taxfix or any advice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each person in one sentence, and lead with lived experience: Julia is our domain expert, a volunteer at Sputnik, an organisation for kids with disabilities, and the mom of an autistic son. That’s our unfair advantage for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future: let’s build a future for kids with special needs, now, by giving parents their time and money back. Lisa shouldn’t need a tax degree to help Tina. Every hour Lisa doesn’t spend on forms is an hour with Tina. Every euro she finds goes to therapy or into Tina’s fund. Next, a pilot with 100 families.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DF8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0000"/>
            <a:ext cx="8255000" cy="1219200"/>
          </a:xfrm>
          <a:prstGeom prst="rect">
            <a:avLst/>
          </a:prstGeom>
          <a:noFill/>
          <a:ln/>
        </p:spPr>
        <p:txBody>
          <a:bodyPr wrap="square" lIns="0" tIns="0" rIns="0" bIns="0" rtlCol="0" anchor="t"/>
          <a:lstStyle>
            <a:lvl1pPr algn="l" indent="0" marL="0">
              <a:lnSpc>
                <a:spcPct val="115000"/>
              </a:lnSpc>
              <a:buNone/>
              <a:defRPr lang="en-US" sz="5000" dirty="0">
                <a:solidFill>
                  <a:srgbClr val="0C0B0A"/>
                </a:solidFill>
                <a:latin typeface="Barlow Condensed" pitchFamily="34" charset="0"/>
                <a:ea typeface="Barlow Condensed" pitchFamily="34" charset="-122"/>
                <a:cs typeface="Barlow Condensed" pitchFamily="34" charset="-120"/>
              </a:defRPr>
            </a:lvl1pPr>
          </a:lstStyle>
          <a:p>
            <a:pPr algn="l" indent="0" marL="0">
              <a:lnSpc>
                <a:spcPct val="115000"/>
              </a:lnSpc>
              <a:buNone/>
            </a:pPr>
            <a:endParaRPr lang="en-US" sz="5000" dirty="0"/>
          </a:p>
        </p:txBody>
      </p:sp>
      <p:sp>
        <p:nvSpPr>
          <p:cNvPr id="3" name="Text Placeholder 2"/>
          <p:cNvSpPr/>
          <p:nvPr>
            <p:ph idx="101" type="body"/>
          </p:nvPr>
        </p:nvSpPr>
        <p:spPr>
          <a:xfrm>
            <a:off x="812800" y="2794000"/>
            <a:ext cx="10566400" cy="3251200"/>
          </a:xfrm>
          <a:prstGeom prst="rect">
            <a:avLst/>
          </a:prstGeom>
          <a:noFill/>
          <a:ln/>
        </p:spPr>
        <p:txBody>
          <a:bodyPr wrap="square" lIns="0" tIns="0" rIns="0" bIns="0" rtlCol="0" anchor="t"/>
          <a:lstStyle>
            <a:lvl1pPr algn="l" indent="0" marL="0">
              <a:lnSpc>
                <a:spcPct val="140000"/>
              </a:lnSpc>
              <a:buNone/>
              <a:defRPr lang="en-US" sz="1600" dirty="0">
                <a:solidFill>
                  <a:srgbClr val="0C0B0A"/>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DF8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0000"/>
            <a:ext cx="8255000" cy="1219200"/>
          </a:xfrm>
          <a:prstGeom prst="rect">
            <a:avLst/>
          </a:prstGeom>
          <a:noFill/>
          <a:ln/>
        </p:spPr>
        <p:txBody>
          <a:bodyPr wrap="square" lIns="0" tIns="0" rIns="0" bIns="0" rtlCol="0" anchor="t"/>
          <a:lstStyle>
            <a:lvl1pPr algn="l" indent="0" marL="0">
              <a:lnSpc>
                <a:spcPct val="115000"/>
              </a:lnSpc>
              <a:buNone/>
              <a:defRPr lang="en-US" sz="5000" dirty="0">
                <a:solidFill>
                  <a:srgbClr val="0C0B0A"/>
                </a:solidFill>
                <a:latin typeface="Barlow Condensed" pitchFamily="34" charset="0"/>
                <a:ea typeface="Barlow Condensed" pitchFamily="34" charset="-122"/>
                <a:cs typeface="Barlow Condensed" pitchFamily="34" charset="-120"/>
              </a:defRPr>
            </a:lvl1pPr>
          </a:lstStyle>
          <a:p>
            <a:pPr algn="l" indent="0" marL="0">
              <a:lnSpc>
                <a:spcPct val="115000"/>
              </a:lnSpc>
              <a:buNone/>
            </a:pPr>
            <a:endParaRPr lang="en-US" sz="5000" dirty="0"/>
          </a:p>
        </p:txBody>
      </p:sp>
      <p:sp>
        <p:nvSpPr>
          <p:cNvPr id="3" name="Text Placeholder 2"/>
          <p:cNvSpPr/>
          <p:nvPr>
            <p:ph idx="101" type="body"/>
          </p:nvPr>
        </p:nvSpPr>
        <p:spPr>
          <a:xfrm>
            <a:off x="812800" y="2794000"/>
            <a:ext cx="10566400" cy="3251200"/>
          </a:xfrm>
          <a:prstGeom prst="rect">
            <a:avLst/>
          </a:prstGeom>
          <a:noFill/>
          <a:ln/>
        </p:spPr>
        <p:txBody>
          <a:bodyPr wrap="square" lIns="0" tIns="0" rIns="0" bIns="0" rtlCol="0" anchor="t"/>
          <a:lstStyle>
            <a:lvl1pPr algn="l" indent="0" marL="0">
              <a:lnSpc>
                <a:spcPct val="140000"/>
              </a:lnSpc>
              <a:buNone/>
              <a:defRPr lang="en-US" sz="1600" dirty="0">
                <a:solidFill>
                  <a:srgbClr val="0C0B0A"/>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webp"/><Relationship Id="rId2" Type="http://schemas.openxmlformats.org/officeDocument/2006/relationships/image" Target="../media/image-7-2.jpeg"/><Relationship Id="rId3" Type="http://schemas.openxmlformats.org/officeDocument/2006/relationships/image" Target="../media/image-7-3.webp"/><Relationship Id="rId4" Type="http://schemas.openxmlformats.org/officeDocument/2006/relationships/image" Target="../media/image-7-4.jpeg"/><Relationship Id="rId5" Type="http://schemas.openxmlformats.org/officeDocument/2006/relationships/image" Target="../media/image-7-5.jpe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DEE68"/>
        </a:solidFill>
      </p:bgPr>
    </p:bg>
    <p:spTree>
      <p:nvGrpSpPr>
        <p:cNvPr id="1" name=""/>
        <p:cNvGrpSpPr/>
        <p:nvPr/>
      </p:nvGrpSpPr>
      <p:grpSpPr>
        <a:xfrm>
          <a:off x="0" y="0"/>
          <a:ext cx="0" cy="0"/>
          <a:chOff x="0" y="0"/>
          <a:chExt cx="0" cy="0"/>
        </a:xfrm>
      </p:grpSpPr>
      <p:sp>
        <p:nvSpPr>
          <p:cNvPr id="2" name="Text 0"/>
          <p:cNvSpPr/>
          <p:nvPr/>
        </p:nvSpPr>
        <p:spPr>
          <a:xfrm>
            <a:off x="8724900" y="2921000"/>
            <a:ext cx="2616200" cy="4089400"/>
          </a:xfrm>
          <a:prstGeom prst="rect">
            <a:avLst/>
          </a:prstGeom>
          <a:noFill/>
          <a:ln/>
        </p:spPr>
        <p:txBody>
          <a:bodyPr wrap="none" lIns="0" tIns="0" rIns="0" bIns="0" rtlCol="0" anchor="t">
            <a:normAutofit/>
          </a:bodyPr>
          <a:lstStyle/>
          <a:p>
            <a:pPr algn="ctr" indent="0" marL="0">
              <a:lnSpc>
                <a:spcPts val="16000"/>
              </a:lnSpc>
              <a:buNone/>
            </a:pPr>
            <a:r>
              <a:rPr lang="en-US" sz="20000" b="1" spc="-800" kern="0" dirty="0">
                <a:solidFill>
                  <a:srgbClr val="0C0B0A"/>
                </a:solidFill>
                <a:latin typeface="Barlow Condensed" pitchFamily="34" charset="0"/>
                <a:ea typeface="Barlow Condensed" pitchFamily="34" charset="-122"/>
                <a:cs typeface="Barlow Condensed" pitchFamily="34" charset="-120"/>
              </a:rPr>
              <a:t>€</a:t>
            </a:r>
            <a:endParaRPr lang="en-US" sz="20000" dirty="0"/>
          </a:p>
        </p:txBody>
      </p:sp>
      <p:sp>
        <p:nvSpPr>
          <p:cNvPr id="3" name="Text 1"/>
          <p:cNvSpPr/>
          <p:nvPr/>
        </p:nvSpPr>
        <p:spPr>
          <a:xfrm>
            <a:off x="812800" y="609600"/>
            <a:ext cx="3924300" cy="146050"/>
          </a:xfrm>
          <a:prstGeom prst="rect">
            <a:avLst/>
          </a:prstGeom>
          <a:noFill/>
          <a:ln/>
        </p:spPr>
        <p:txBody>
          <a:bodyPr wrap="square" lIns="0" tIns="0" rIns="0" bIns="0" rtlCol="0" anchor="t">
            <a:normAutofit/>
          </a:bodyPr>
          <a:lstStyle/>
          <a:p>
            <a:pPr algn="l" indent="0" marL="0">
              <a:lnSpc>
                <a:spcPts val="950"/>
              </a:lnSpc>
              <a:buNone/>
            </a:pPr>
            <a:r>
              <a:rPr lang="en-US" sz="950" b="1" spc="20" kern="0" dirty="0">
                <a:solidFill>
                  <a:srgbClr val="0C0B0A"/>
                </a:solidFill>
                <a:latin typeface="Inter" pitchFamily="34" charset="0"/>
                <a:ea typeface="Inter" pitchFamily="34" charset="-122"/>
                <a:cs typeface="Inter" pitchFamily="34" charset="-120"/>
              </a:rPr>
              <a:t>Taxability</a:t>
            </a:r>
            <a:endParaRPr lang="en-US" sz="950" dirty="0"/>
          </a:p>
        </p:txBody>
      </p:sp>
      <p:sp>
        <p:nvSpPr>
          <p:cNvPr id="4" name="Text 2"/>
          <p:cNvSpPr/>
          <p:nvPr/>
        </p:nvSpPr>
        <p:spPr>
          <a:xfrm>
            <a:off x="5492750" y="609600"/>
            <a:ext cx="5886450" cy="146050"/>
          </a:xfrm>
          <a:prstGeom prst="rect">
            <a:avLst/>
          </a:prstGeom>
          <a:noFill/>
          <a:ln/>
        </p:spPr>
        <p:txBody>
          <a:bodyPr wrap="square" lIns="0" tIns="0" rIns="0" bIns="0" rtlCol="0" anchor="t">
            <a:normAutofit/>
          </a:bodyPr>
          <a:lstStyle/>
          <a:p>
            <a:pPr algn="r" indent="0" marL="0">
              <a:lnSpc>
                <a:spcPts val="950"/>
              </a:lnSpc>
              <a:buNone/>
            </a:pPr>
            <a:r>
              <a:rPr lang="en-US" sz="950" spc="20" kern="0" dirty="0">
                <a:solidFill>
                  <a:srgbClr val="394B24"/>
                </a:solidFill>
                <a:latin typeface="Inter" pitchFamily="34" charset="0"/>
                <a:ea typeface="Inter" pitchFamily="34" charset="-122"/>
                <a:cs typeface="Inter" pitchFamily="34" charset="-120"/>
              </a:rPr>
              <a:t>Claude Community Berlin · Impact Lab · October 2026</a:t>
            </a:r>
            <a:endParaRPr lang="en-US" sz="950" dirty="0"/>
          </a:p>
        </p:txBody>
      </p:sp>
      <p:sp>
        <p:nvSpPr>
          <p:cNvPr id="5" name="Text 3"/>
          <p:cNvSpPr/>
          <p:nvPr>
            <p:ph type="title"/>
          </p:nvPr>
        </p:nvSpPr>
        <p:spPr>
          <a:xfrm>
            <a:off x="812800" y="1905000"/>
            <a:ext cx="8175625" cy="2699990"/>
          </a:xfrm>
          <a:prstGeom prst="rect">
            <a:avLst/>
          </a:prstGeom>
          <a:noFill/>
          <a:ln/>
        </p:spPr>
        <p:txBody>
          <a:bodyPr wrap="square" lIns="0" tIns="0" rIns="0" bIns="0" rtlCol="0" anchor="t">
            <a:normAutofit/>
          </a:bodyPr>
          <a:lstStyle/>
          <a:p>
            <a:pPr algn="l" indent="0" marL="0">
              <a:lnSpc>
                <a:spcPts val="7020"/>
              </a:lnSpc>
              <a:buNone/>
            </a:pPr>
            <a:r>
              <a:rPr lang="en-US" sz="7800" b="1" i="0" spc="-150" kern="0" dirty="0">
                <a:solidFill>
                  <a:srgbClr val="0C0B0A"/>
                </a:solidFill>
                <a:latin typeface="Barlow Condensed" pitchFamily="34" charset="0"/>
                <a:ea typeface="Barlow Condensed" pitchFamily="34" charset="-122"/>
                <a:cs typeface="Barlow Condensed" pitchFamily="34" charset="-120"/>
              </a:rPr>
              <a:t>8.000 € a year she’s owed. Nobody told her.</a:t>
            </a:r>
            <a:endParaRPr lang="en-US" sz="7800" dirty="0"/>
          </a:p>
        </p:txBody>
      </p:sp>
      <p:sp>
        <p:nvSpPr>
          <p:cNvPr id="6" name="Text 4"/>
          <p:cNvSpPr/>
          <p:nvPr/>
        </p:nvSpPr>
        <p:spPr>
          <a:xfrm>
            <a:off x="812800" y="5959872"/>
            <a:ext cx="7848600" cy="313928"/>
          </a:xfrm>
          <a:prstGeom prst="rect">
            <a:avLst/>
          </a:prstGeom>
          <a:noFill/>
          <a:ln/>
        </p:spPr>
        <p:txBody>
          <a:bodyPr wrap="square" lIns="0" tIns="0" rIns="0" bIns="0" rtlCol="0" anchor="t">
            <a:normAutofit/>
          </a:bodyPr>
          <a:lstStyle/>
          <a:p>
            <a:pPr algn="l" indent="0" marL="0">
              <a:lnSpc>
                <a:spcPts val="2272"/>
              </a:lnSpc>
              <a:buNone/>
            </a:pPr>
            <a:r>
              <a:rPr lang="en-US" sz="1600" spc="-15" kern="0" dirty="0">
                <a:solidFill>
                  <a:srgbClr val="394B24"/>
                </a:solidFill>
                <a:latin typeface="Inter" pitchFamily="34" charset="0"/>
                <a:ea typeface="Inter" pitchFamily="34" charset="-122"/>
                <a:cs typeface="Inter" pitchFamily="34" charset="-120"/>
              </a:rPr>
              <a:t>A single mom of a disabled child, her first German tax return · 5 o’Claude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8F2"/>
        </a:solidFill>
      </p:bgPr>
    </p:bg>
    <p:spTree>
      <p:nvGrpSpPr>
        <p:cNvPr id="1" name=""/>
        <p:cNvGrpSpPr/>
        <p:nvPr/>
      </p:nvGrpSpPr>
      <p:grpSpPr>
        <a:xfrm>
          <a:off x="0" y="0"/>
          <a:ext cx="0" cy="0"/>
          <a:chOff x="0" y="0"/>
          <a:chExt cx="0" cy="0"/>
        </a:xfrm>
      </p:grpSpPr>
      <p:sp>
        <p:nvSpPr>
          <p:cNvPr id="2" name="Text 0"/>
          <p:cNvSpPr/>
          <p:nvPr/>
        </p:nvSpPr>
        <p:spPr>
          <a:xfrm>
            <a:off x="812800" y="812800"/>
            <a:ext cx="6540500" cy="146050"/>
          </a:xfrm>
          <a:prstGeom prst="rect">
            <a:avLst/>
          </a:prstGeom>
          <a:noFill/>
          <a:ln/>
        </p:spPr>
        <p:txBody>
          <a:bodyPr wrap="square" lIns="0" tIns="0" rIns="0" bIns="0" rtlCol="0" anchor="t">
            <a:normAutofit/>
          </a:bodyPr>
          <a:lstStyle/>
          <a:p>
            <a:pPr algn="l" indent="0" marL="0">
              <a:lnSpc>
                <a:spcPts val="950"/>
              </a:lnSpc>
              <a:buNone/>
            </a:pPr>
            <a:r>
              <a:rPr lang="en-US" sz="950" b="1" spc="20" kern="0" dirty="0">
                <a:solidFill>
                  <a:srgbClr val="0C0B0A"/>
                </a:solidFill>
                <a:latin typeface="Inter" pitchFamily="34" charset="0"/>
                <a:ea typeface="Inter" pitchFamily="34" charset="-122"/>
                <a:cs typeface="Inter" pitchFamily="34" charset="-120"/>
              </a:rPr>
              <a:t>02</a:t>
            </a:r>
            <a:r>
              <a:rPr lang="en-US" sz="950" spc="20" kern="0" dirty="0">
                <a:solidFill>
                  <a:srgbClr val="6B645C"/>
                </a:solidFill>
                <a:latin typeface="Inter" pitchFamily="34" charset="0"/>
                <a:ea typeface="Inter" pitchFamily="34" charset="-122"/>
                <a:cs typeface="Inter" pitchFamily="34" charset="-120"/>
              </a:rPr>
              <a:t>   Meet the family</a:t>
            </a:r>
            <a:endParaRPr lang="en-US" sz="950" dirty="0"/>
          </a:p>
        </p:txBody>
      </p:sp>
      <p:sp>
        <p:nvSpPr>
          <p:cNvPr id="3" name="Text 1"/>
          <p:cNvSpPr/>
          <p:nvPr>
            <p:ph type="title"/>
          </p:nvPr>
        </p:nvSpPr>
        <p:spPr>
          <a:xfrm>
            <a:off x="812800" y="1270000"/>
            <a:ext cx="5886450" cy="1244600"/>
          </a:xfrm>
          <a:prstGeom prst="rect">
            <a:avLst/>
          </a:prstGeom>
          <a:noFill/>
          <a:ln/>
        </p:spPr>
        <p:txBody>
          <a:bodyPr wrap="square" lIns="0" tIns="0" rIns="0" bIns="0" rtlCol="0" anchor="t">
            <a:normAutofit/>
          </a:bodyPr>
          <a:lstStyle/>
          <a:p>
            <a:pPr algn="l" indent="0" marL="0">
              <a:lnSpc>
                <a:spcPts val="4800"/>
              </a:lnSpc>
              <a:buNone/>
            </a:pPr>
            <a:r>
              <a:rPr lang="en-US" sz="5000" b="1" i="0" spc="-60" kern="0" dirty="0">
                <a:solidFill>
                  <a:srgbClr val="0C0B0A"/>
                </a:solidFill>
                <a:latin typeface="Barlow Condensed" pitchFamily="34" charset="0"/>
                <a:ea typeface="Barlow Condensed" pitchFamily="34" charset="-122"/>
                <a:cs typeface="Barlow Condensed" pitchFamily="34" charset="-120"/>
              </a:rPr>
              <a:t>One diagnosis, and Mom gets a second job</a:t>
            </a:r>
            <a:endParaRPr lang="en-US" sz="5000" dirty="0"/>
          </a:p>
        </p:txBody>
      </p:sp>
      <p:pic>
        <p:nvPicPr>
          <p:cNvPr id="4" name="Image 0" descr="Illustrated portrait of Lisa, a woman in her thirties with shoulder-length dark hair and a teal sweater">    </p:cNvPr>
          <p:cNvPicPr>
            <a:picLocks noChangeAspect="1"/>
          </p:cNvPicPr>
          <p:nvPr/>
        </p:nvPicPr>
        <p:blipFill>
          <a:blip r:embed="rId1"/>
          <a:srcRect l="0" r="0" t="0" b="0"/>
          <a:stretch/>
        </p:blipFill>
        <p:spPr>
          <a:xfrm>
            <a:off x="812800" y="2984500"/>
            <a:ext cx="952500" cy="952500"/>
          </a:xfrm>
          <a:prstGeom prst="rect">
            <a:avLst/>
          </a:prstGeom>
        </p:spPr>
      </p:pic>
      <p:sp>
        <p:nvSpPr>
          <p:cNvPr id="5" name="Text 2"/>
          <p:cNvSpPr/>
          <p:nvPr/>
        </p:nvSpPr>
        <p:spPr>
          <a:xfrm>
            <a:off x="2019300" y="3194348"/>
            <a:ext cx="1445369" cy="269230"/>
          </a:xfrm>
          <a:prstGeom prst="rect">
            <a:avLst/>
          </a:prstGeom>
          <a:noFill/>
          <a:ln/>
        </p:spPr>
        <p:txBody>
          <a:bodyPr wrap="square" lIns="0" tIns="0" rIns="0" bIns="0" rtlCol="0" anchor="t">
            <a:normAutofit/>
          </a:bodyPr>
          <a:lstStyle/>
          <a:p>
            <a:pPr algn="l"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Lisa, 35</a:t>
            </a:r>
            <a:endParaRPr lang="en-US" sz="1600" dirty="0"/>
          </a:p>
        </p:txBody>
      </p:sp>
      <p:sp>
        <p:nvSpPr>
          <p:cNvPr id="6" name="Text 3"/>
          <p:cNvSpPr/>
          <p:nvPr/>
        </p:nvSpPr>
        <p:spPr>
          <a:xfrm>
            <a:off x="2019300" y="3488978"/>
            <a:ext cx="1648569" cy="26352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6B645C"/>
                </a:solidFill>
                <a:latin typeface="Inter" pitchFamily="34" charset="0"/>
                <a:ea typeface="Inter" pitchFamily="34" charset="-122"/>
                <a:cs typeface="Inter" pitchFamily="34" charset="-120"/>
              </a:rPr>
              <a:t>Single mom, nurse</a:t>
            </a:r>
            <a:endParaRPr lang="en-US" sz="1250" dirty="0"/>
          </a:p>
        </p:txBody>
      </p:sp>
      <p:pic>
        <p:nvPicPr>
          <p:cNvPr id="7" name="Image 1" descr="Illustrated portrait of Tina, a five-year-old girl with brown pigtails and a mustard top">    </p:cNvPr>
          <p:cNvPicPr>
            <a:picLocks noChangeAspect="1"/>
          </p:cNvPicPr>
          <p:nvPr/>
        </p:nvPicPr>
        <p:blipFill>
          <a:blip r:embed="rId2"/>
          <a:srcRect l="0" r="0" t="0" b="0"/>
          <a:stretch/>
        </p:blipFill>
        <p:spPr>
          <a:xfrm>
            <a:off x="3667869" y="2984500"/>
            <a:ext cx="952500" cy="952500"/>
          </a:xfrm>
          <a:prstGeom prst="rect">
            <a:avLst/>
          </a:prstGeom>
        </p:spPr>
      </p:pic>
      <p:sp>
        <p:nvSpPr>
          <p:cNvPr id="8" name="Text 4"/>
          <p:cNvSpPr/>
          <p:nvPr/>
        </p:nvSpPr>
        <p:spPr>
          <a:xfrm>
            <a:off x="4874369" y="3194348"/>
            <a:ext cx="770811" cy="269230"/>
          </a:xfrm>
          <a:prstGeom prst="rect">
            <a:avLst/>
          </a:prstGeom>
          <a:noFill/>
          <a:ln/>
        </p:spPr>
        <p:txBody>
          <a:bodyPr wrap="square" lIns="0" tIns="0" rIns="0" bIns="0" rtlCol="0" anchor="t">
            <a:normAutofit/>
          </a:bodyPr>
          <a:lstStyle/>
          <a:p>
            <a:pPr algn="l"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Tina, 5</a:t>
            </a:r>
            <a:endParaRPr lang="en-US" sz="1600" dirty="0"/>
          </a:p>
        </p:txBody>
      </p:sp>
      <p:sp>
        <p:nvSpPr>
          <p:cNvPr id="9" name="Text 5"/>
          <p:cNvSpPr/>
          <p:nvPr/>
        </p:nvSpPr>
        <p:spPr>
          <a:xfrm>
            <a:off x="4874369" y="3488978"/>
            <a:ext cx="693142" cy="26352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6B645C"/>
                </a:solidFill>
                <a:latin typeface="Inter" pitchFamily="34" charset="0"/>
                <a:ea typeface="Inter" pitchFamily="34" charset="-122"/>
                <a:cs typeface="Inter" pitchFamily="34" charset="-120"/>
              </a:rPr>
              <a:t>Autism</a:t>
            </a:r>
            <a:endParaRPr lang="en-US" sz="1250" dirty="0"/>
          </a:p>
        </p:txBody>
      </p:sp>
      <p:sp>
        <p:nvSpPr>
          <p:cNvPr id="10" name="Text 6"/>
          <p:cNvSpPr/>
          <p:nvPr/>
        </p:nvSpPr>
        <p:spPr>
          <a:xfrm>
            <a:off x="812800" y="4381500"/>
            <a:ext cx="5624830" cy="313928"/>
          </a:xfrm>
          <a:prstGeom prst="rect">
            <a:avLst/>
          </a:prstGeom>
          <a:noFill/>
          <a:ln/>
        </p:spPr>
        <p:txBody>
          <a:bodyPr wrap="square" lIns="0" tIns="0" rIns="0" bIns="0" rtlCol="0" anchor="t">
            <a:normAutofit/>
          </a:bodyPr>
          <a:lstStyle/>
          <a:p>
            <a:pPr algn="l" indent="0" marL="0">
              <a:lnSpc>
                <a:spcPts val="2272"/>
              </a:lnSpc>
              <a:buNone/>
            </a:pPr>
            <a:r>
              <a:rPr lang="en-US" sz="1600" spc="-15" kern="0" dirty="0">
                <a:solidFill>
                  <a:srgbClr val="6B645C"/>
                </a:solidFill>
                <a:latin typeface="Inter" pitchFamily="34" charset="0"/>
                <a:ea typeface="Inter" pitchFamily="34" charset="-122"/>
                <a:cs typeface="Inter" pitchFamily="34" charset="-120"/>
              </a:rPr>
              <a:t>“I opened the tax return and just froze.”</a:t>
            </a:r>
            <a:endParaRPr lang="en-US" sz="1600" dirty="0"/>
          </a:p>
        </p:txBody>
      </p:sp>
      <p:sp>
        <p:nvSpPr>
          <p:cNvPr id="11" name="Shape 7"/>
          <p:cNvSpPr/>
          <p:nvPr/>
        </p:nvSpPr>
        <p:spPr>
          <a:xfrm>
            <a:off x="7315200" y="1325563"/>
            <a:ext cx="4064000" cy="0"/>
          </a:xfrm>
          <a:prstGeom prst="line">
            <a:avLst/>
          </a:prstGeom>
          <a:noFill/>
          <a:ln w="9525">
            <a:solidFill>
              <a:srgbClr val="0C0B0A">
                <a:alpha val="16000"/>
              </a:srgbClr>
            </a:solidFill>
            <a:prstDash val="solid"/>
          </a:ln>
        </p:spPr>
      </p:sp>
      <p:sp>
        <p:nvSpPr>
          <p:cNvPr id="12" name="Text 8"/>
          <p:cNvSpPr/>
          <p:nvPr/>
        </p:nvSpPr>
        <p:spPr>
          <a:xfrm>
            <a:off x="7315200" y="1507480"/>
            <a:ext cx="293092" cy="194270"/>
          </a:xfrm>
          <a:prstGeom prst="rect">
            <a:avLst/>
          </a:prstGeom>
          <a:noFill/>
          <a:ln/>
        </p:spPr>
        <p:txBody>
          <a:bodyPr wrap="square" lIns="0" tIns="0" rIns="0" bIns="0" rtlCol="0" anchor="t">
            <a:normAutofit/>
          </a:bodyPr>
          <a:lstStyle/>
          <a:p>
            <a:pPr algn="l" indent="0" marL="0">
              <a:lnSpc>
                <a:spcPts val="1330"/>
              </a:lnSpc>
              <a:buNone/>
            </a:pPr>
            <a:r>
              <a:rPr lang="en-US" sz="950" spc="20" kern="0" dirty="0">
                <a:solidFill>
                  <a:srgbClr val="6B645C"/>
                </a:solidFill>
                <a:latin typeface="Inter" pitchFamily="34" charset="0"/>
                <a:ea typeface="Inter" pitchFamily="34" charset="-122"/>
                <a:cs typeface="Inter" pitchFamily="34" charset="-120"/>
              </a:rPr>
              <a:t>Lisa</a:t>
            </a:r>
            <a:endParaRPr lang="en-US" sz="950" dirty="0"/>
          </a:p>
        </p:txBody>
      </p:sp>
      <p:sp>
        <p:nvSpPr>
          <p:cNvPr id="13" name="Text 9"/>
          <p:cNvSpPr/>
          <p:nvPr/>
        </p:nvSpPr>
        <p:spPr>
          <a:xfrm>
            <a:off x="9597906" y="1470025"/>
            <a:ext cx="1781294" cy="269230"/>
          </a:xfrm>
          <a:prstGeom prst="rect">
            <a:avLst/>
          </a:prstGeom>
          <a:noFill/>
          <a:ln/>
        </p:spPr>
        <p:txBody>
          <a:bodyPr wrap="square" lIns="0" tIns="0" rIns="0" bIns="0" rtlCol="0" anchor="t">
            <a:normAutofit/>
          </a:bodyPr>
          <a:lstStyle/>
          <a:p>
            <a:pPr algn="r"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Nurse, full-time</a:t>
            </a:r>
            <a:endParaRPr lang="en-US" sz="1600" dirty="0"/>
          </a:p>
        </p:txBody>
      </p:sp>
      <p:sp>
        <p:nvSpPr>
          <p:cNvPr id="14" name="Shape 10"/>
          <p:cNvSpPr/>
          <p:nvPr/>
        </p:nvSpPr>
        <p:spPr>
          <a:xfrm>
            <a:off x="7315200" y="1858318"/>
            <a:ext cx="4064000" cy="0"/>
          </a:xfrm>
          <a:prstGeom prst="line">
            <a:avLst/>
          </a:prstGeom>
          <a:noFill/>
          <a:ln w="9525">
            <a:solidFill>
              <a:srgbClr val="0C0B0A">
                <a:alpha val="16000"/>
              </a:srgbClr>
            </a:solidFill>
            <a:prstDash val="solid"/>
          </a:ln>
        </p:spPr>
      </p:sp>
      <p:sp>
        <p:nvSpPr>
          <p:cNvPr id="15" name="Text 11"/>
          <p:cNvSpPr/>
          <p:nvPr/>
        </p:nvSpPr>
        <p:spPr>
          <a:xfrm>
            <a:off x="7315200" y="2040235"/>
            <a:ext cx="1185505" cy="194270"/>
          </a:xfrm>
          <a:prstGeom prst="rect">
            <a:avLst/>
          </a:prstGeom>
          <a:noFill/>
          <a:ln/>
        </p:spPr>
        <p:txBody>
          <a:bodyPr wrap="square" lIns="0" tIns="0" rIns="0" bIns="0" rtlCol="0" anchor="t">
            <a:normAutofit/>
          </a:bodyPr>
          <a:lstStyle/>
          <a:p>
            <a:pPr algn="l" indent="0" marL="0">
              <a:lnSpc>
                <a:spcPts val="1330"/>
              </a:lnSpc>
              <a:buNone/>
            </a:pPr>
            <a:r>
              <a:rPr lang="en-US" sz="950" spc="20" kern="0" dirty="0">
                <a:solidFill>
                  <a:srgbClr val="6B645C"/>
                </a:solidFill>
                <a:latin typeface="Inter" pitchFamily="34" charset="0"/>
                <a:ea typeface="Inter" pitchFamily="34" charset="-122"/>
                <a:cs typeface="Inter" pitchFamily="34" charset="-120"/>
              </a:rPr>
              <a:t>New in Germany</a:t>
            </a:r>
            <a:endParaRPr lang="en-US" sz="950" dirty="0"/>
          </a:p>
        </p:txBody>
      </p:sp>
      <p:sp>
        <p:nvSpPr>
          <p:cNvPr id="16" name="Text 12"/>
          <p:cNvSpPr/>
          <p:nvPr/>
        </p:nvSpPr>
        <p:spPr>
          <a:xfrm>
            <a:off x="9877227" y="2002780"/>
            <a:ext cx="1501973" cy="269230"/>
          </a:xfrm>
          <a:prstGeom prst="rect">
            <a:avLst/>
          </a:prstGeom>
          <a:noFill/>
          <a:ln/>
        </p:spPr>
        <p:txBody>
          <a:bodyPr wrap="square" lIns="0" tIns="0" rIns="0" bIns="0" rtlCol="0" anchor="t">
            <a:normAutofit/>
          </a:bodyPr>
          <a:lstStyle/>
          <a:p>
            <a:pPr algn="r"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German at B1</a:t>
            </a:r>
            <a:endParaRPr lang="en-US" sz="1600" dirty="0"/>
          </a:p>
        </p:txBody>
      </p:sp>
      <p:sp>
        <p:nvSpPr>
          <p:cNvPr id="17" name="Shape 13"/>
          <p:cNvSpPr/>
          <p:nvPr/>
        </p:nvSpPr>
        <p:spPr>
          <a:xfrm>
            <a:off x="7315200" y="2391073"/>
            <a:ext cx="4064000" cy="0"/>
          </a:xfrm>
          <a:prstGeom prst="line">
            <a:avLst/>
          </a:prstGeom>
          <a:noFill/>
          <a:ln w="9525">
            <a:solidFill>
              <a:srgbClr val="0C0B0A">
                <a:alpha val="16000"/>
              </a:srgbClr>
            </a:solidFill>
            <a:prstDash val="solid"/>
          </a:ln>
        </p:spPr>
      </p:sp>
      <p:sp>
        <p:nvSpPr>
          <p:cNvPr id="18" name="Text 14"/>
          <p:cNvSpPr/>
          <p:nvPr/>
        </p:nvSpPr>
        <p:spPr>
          <a:xfrm>
            <a:off x="7315200" y="2572990"/>
            <a:ext cx="1156811" cy="194270"/>
          </a:xfrm>
          <a:prstGeom prst="rect">
            <a:avLst/>
          </a:prstGeom>
          <a:noFill/>
          <a:ln/>
        </p:spPr>
        <p:txBody>
          <a:bodyPr wrap="square" lIns="0" tIns="0" rIns="0" bIns="0" rtlCol="0" anchor="t">
            <a:normAutofit/>
          </a:bodyPr>
          <a:lstStyle/>
          <a:p>
            <a:pPr algn="l" indent="0" marL="0">
              <a:lnSpc>
                <a:spcPts val="1330"/>
              </a:lnSpc>
              <a:buNone/>
            </a:pPr>
            <a:r>
              <a:rPr lang="en-US" sz="950" spc="20" kern="0" dirty="0">
                <a:solidFill>
                  <a:srgbClr val="6B645C"/>
                </a:solidFill>
                <a:latin typeface="Inter" pitchFamily="34" charset="0"/>
                <a:ea typeface="Inter" pitchFamily="34" charset="-122"/>
                <a:cs typeface="Inter" pitchFamily="34" charset="-120"/>
              </a:rPr>
              <a:t>Tina’s diagnosis</a:t>
            </a:r>
            <a:endParaRPr lang="en-US" sz="950" dirty="0"/>
          </a:p>
        </p:txBody>
      </p:sp>
      <p:sp>
        <p:nvSpPr>
          <p:cNvPr id="19" name="Text 15"/>
          <p:cNvSpPr/>
          <p:nvPr/>
        </p:nvSpPr>
        <p:spPr>
          <a:xfrm>
            <a:off x="8992414" y="2535535"/>
            <a:ext cx="2386786" cy="269230"/>
          </a:xfrm>
          <a:prstGeom prst="rect">
            <a:avLst/>
          </a:prstGeom>
          <a:noFill/>
          <a:ln/>
        </p:spPr>
        <p:txBody>
          <a:bodyPr wrap="square" lIns="0" tIns="0" rIns="0" bIns="0" rtlCol="0" anchor="t">
            <a:normAutofit/>
          </a:bodyPr>
          <a:lstStyle/>
          <a:p>
            <a:pPr algn="r"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Autism, after months</a:t>
            </a:r>
            <a:endParaRPr lang="en-US" sz="1600" dirty="0"/>
          </a:p>
        </p:txBody>
      </p:sp>
      <p:sp>
        <p:nvSpPr>
          <p:cNvPr id="20" name="Shape 16"/>
          <p:cNvSpPr/>
          <p:nvPr/>
        </p:nvSpPr>
        <p:spPr>
          <a:xfrm>
            <a:off x="7315200" y="2923828"/>
            <a:ext cx="4064000" cy="0"/>
          </a:xfrm>
          <a:prstGeom prst="line">
            <a:avLst/>
          </a:prstGeom>
          <a:noFill/>
          <a:ln w="9525">
            <a:solidFill>
              <a:srgbClr val="0C0B0A">
                <a:alpha val="16000"/>
              </a:srgbClr>
            </a:solidFill>
            <a:prstDash val="solid"/>
          </a:ln>
        </p:spPr>
      </p:sp>
      <p:sp>
        <p:nvSpPr>
          <p:cNvPr id="21" name="Text 17"/>
          <p:cNvSpPr/>
          <p:nvPr/>
        </p:nvSpPr>
        <p:spPr>
          <a:xfrm>
            <a:off x="7315200" y="3105745"/>
            <a:ext cx="720685" cy="194270"/>
          </a:xfrm>
          <a:prstGeom prst="rect">
            <a:avLst/>
          </a:prstGeom>
          <a:noFill/>
          <a:ln/>
        </p:spPr>
        <p:txBody>
          <a:bodyPr wrap="square" lIns="0" tIns="0" rIns="0" bIns="0" rtlCol="0" anchor="t">
            <a:normAutofit/>
          </a:bodyPr>
          <a:lstStyle/>
          <a:p>
            <a:pPr algn="l" indent="0" marL="0">
              <a:lnSpc>
                <a:spcPts val="1330"/>
              </a:lnSpc>
              <a:buNone/>
            </a:pPr>
            <a:r>
              <a:rPr lang="en-US" sz="950" spc="20" kern="0" dirty="0">
                <a:solidFill>
                  <a:srgbClr val="6B645C"/>
                </a:solidFill>
                <a:latin typeface="Inter" pitchFamily="34" charset="0"/>
                <a:ea typeface="Inter" pitchFamily="34" charset="-122"/>
                <a:cs typeface="Inter" pitchFamily="34" charset="-120"/>
              </a:rPr>
              <a:t>Therapies</a:t>
            </a:r>
            <a:endParaRPr lang="en-US" sz="950" dirty="0"/>
          </a:p>
        </p:txBody>
      </p:sp>
      <p:sp>
        <p:nvSpPr>
          <p:cNvPr id="22" name="Text 18"/>
          <p:cNvSpPr/>
          <p:nvPr/>
        </p:nvSpPr>
        <p:spPr>
          <a:xfrm>
            <a:off x="9407465" y="3068290"/>
            <a:ext cx="1971735" cy="269230"/>
          </a:xfrm>
          <a:prstGeom prst="rect">
            <a:avLst/>
          </a:prstGeom>
          <a:noFill/>
          <a:ln/>
        </p:spPr>
        <p:txBody>
          <a:bodyPr wrap="square" lIns="0" tIns="0" rIns="0" bIns="0" rtlCol="0" anchor="t">
            <a:normAutofit/>
          </a:bodyPr>
          <a:lstStyle/>
          <a:p>
            <a:pPr algn="r"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About 6 h a week</a:t>
            </a:r>
            <a:endParaRPr lang="en-US" sz="1600" dirty="0"/>
          </a:p>
        </p:txBody>
      </p:sp>
      <p:sp>
        <p:nvSpPr>
          <p:cNvPr id="23" name="Shape 19"/>
          <p:cNvSpPr/>
          <p:nvPr/>
        </p:nvSpPr>
        <p:spPr>
          <a:xfrm>
            <a:off x="7315200" y="3456583"/>
            <a:ext cx="4064000" cy="0"/>
          </a:xfrm>
          <a:prstGeom prst="line">
            <a:avLst/>
          </a:prstGeom>
          <a:noFill/>
          <a:ln w="9525">
            <a:solidFill>
              <a:srgbClr val="0C0B0A">
                <a:alpha val="16000"/>
              </a:srgbClr>
            </a:solidFill>
            <a:prstDash val="solid"/>
          </a:ln>
        </p:spPr>
      </p:sp>
      <p:sp>
        <p:nvSpPr>
          <p:cNvPr id="24" name="Shape 20"/>
          <p:cNvSpPr/>
          <p:nvPr/>
        </p:nvSpPr>
        <p:spPr>
          <a:xfrm>
            <a:off x="7315200" y="3989338"/>
            <a:ext cx="4064000" cy="0"/>
          </a:xfrm>
          <a:prstGeom prst="line">
            <a:avLst/>
          </a:prstGeom>
          <a:noFill/>
          <a:ln w="9525">
            <a:solidFill>
              <a:srgbClr val="0C0B0A">
                <a:alpha val="16000"/>
              </a:srgbClr>
            </a:solidFill>
            <a:prstDash val="solid"/>
          </a:ln>
        </p:spPr>
      </p:sp>
      <p:sp>
        <p:nvSpPr>
          <p:cNvPr id="25" name="Text 21"/>
          <p:cNvSpPr/>
          <p:nvPr/>
        </p:nvSpPr>
        <p:spPr>
          <a:xfrm>
            <a:off x="7315200" y="3638500"/>
            <a:ext cx="1012388" cy="194270"/>
          </a:xfrm>
          <a:prstGeom prst="rect">
            <a:avLst/>
          </a:prstGeom>
          <a:noFill/>
          <a:ln/>
        </p:spPr>
        <p:txBody>
          <a:bodyPr wrap="square" lIns="0" tIns="0" rIns="0" bIns="0" rtlCol="0" anchor="t">
            <a:normAutofit/>
          </a:bodyPr>
          <a:lstStyle/>
          <a:p>
            <a:pPr algn="l" indent="0" marL="0">
              <a:lnSpc>
                <a:spcPts val="1330"/>
              </a:lnSpc>
              <a:buNone/>
            </a:pPr>
            <a:r>
              <a:rPr lang="en-US" sz="950" spc="20" kern="0" dirty="0">
                <a:solidFill>
                  <a:srgbClr val="6B645C"/>
                </a:solidFill>
                <a:latin typeface="Inter" pitchFamily="34" charset="0"/>
                <a:ea typeface="Inter" pitchFamily="34" charset="-122"/>
                <a:cs typeface="Inter" pitchFamily="34" charset="-120"/>
              </a:rPr>
              <a:t>Family nearby</a:t>
            </a:r>
            <a:endParaRPr lang="en-US" sz="950" dirty="0"/>
          </a:p>
        </p:txBody>
      </p:sp>
      <p:sp>
        <p:nvSpPr>
          <p:cNvPr id="26" name="Text 22"/>
          <p:cNvSpPr/>
          <p:nvPr/>
        </p:nvSpPr>
        <p:spPr>
          <a:xfrm>
            <a:off x="10767397" y="3601045"/>
            <a:ext cx="611803" cy="269230"/>
          </a:xfrm>
          <a:prstGeom prst="rect">
            <a:avLst/>
          </a:prstGeom>
          <a:noFill/>
          <a:ln/>
        </p:spPr>
        <p:txBody>
          <a:bodyPr wrap="square" lIns="0" tIns="0" rIns="0" bIns="0" rtlCol="0" anchor="t">
            <a:normAutofit/>
          </a:bodyPr>
          <a:lstStyle/>
          <a:p>
            <a:pPr algn="r"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None</a:t>
            </a:r>
            <a:endParaRPr lang="en-US" sz="1600" dirty="0"/>
          </a:p>
        </p:txBody>
      </p:sp>
      <p:sp>
        <p:nvSpPr>
          <p:cNvPr id="27" name="Text 23"/>
          <p:cNvSpPr/>
          <p:nvPr/>
        </p:nvSpPr>
        <p:spPr>
          <a:xfrm>
            <a:off x="812800" y="5894090"/>
            <a:ext cx="5886450" cy="176510"/>
          </a:xfrm>
          <a:prstGeom prst="rect">
            <a:avLst/>
          </a:prstGeom>
          <a:noFill/>
          <a:ln/>
        </p:spPr>
        <p:txBody>
          <a:bodyPr wrap="square" lIns="0" tIns="0" rIns="0" bIns="0" rtlCol="0" anchor="t">
            <a:normAutofit/>
          </a:bodyPr>
          <a:lstStyle/>
          <a:p>
            <a:pPr algn="l" indent="0" marL="0">
              <a:lnSpc>
                <a:spcPts val="1190"/>
              </a:lnSpc>
              <a:buNone/>
            </a:pPr>
            <a:r>
              <a:rPr lang="en-US" sz="850" dirty="0">
                <a:solidFill>
                  <a:srgbClr val="6B645C"/>
                </a:solidFill>
                <a:latin typeface="Inter" pitchFamily="34" charset="0"/>
                <a:ea typeface="Inter" pitchFamily="34" charset="-122"/>
                <a:cs typeface="Inter" pitchFamily="34" charset="-120"/>
              </a:rPr>
              <a:t>Illustrative family, built from the situations parents described to us</a:t>
            </a:r>
            <a:endParaRPr lang="en-US" sz="850" dirty="0"/>
          </a:p>
        </p:txBody>
      </p:sp>
      <p:sp>
        <p:nvSpPr>
          <p:cNvPr id="28" name="Text 24"/>
          <p:cNvSpPr/>
          <p:nvPr/>
        </p:nvSpPr>
        <p:spPr>
          <a:xfrm>
            <a:off x="812800" y="6394450"/>
            <a:ext cx="3924300" cy="133350"/>
          </a:xfrm>
          <a:prstGeom prst="rect">
            <a:avLst/>
          </a:prstGeom>
          <a:noFill/>
          <a:ln/>
        </p:spPr>
        <p:txBody>
          <a:bodyPr wrap="square" lIns="0" tIns="0" rIns="0" bIns="0" rtlCol="0" anchor="t">
            <a:normAutofit/>
          </a:bodyPr>
          <a:lstStyle/>
          <a:p>
            <a:pPr algn="l" indent="0" marL="0">
              <a:lnSpc>
                <a:spcPts val="850"/>
              </a:lnSpc>
              <a:buNone/>
            </a:pPr>
            <a:r>
              <a:rPr lang="en-US" sz="850" b="1" spc="15" kern="0" dirty="0">
                <a:solidFill>
                  <a:srgbClr val="0C0B0A"/>
                </a:solidFill>
                <a:latin typeface="Inter" pitchFamily="34" charset="0"/>
                <a:ea typeface="Inter" pitchFamily="34" charset="-122"/>
                <a:cs typeface="Inter" pitchFamily="34" charset="-120"/>
              </a:rPr>
              <a:t>Taxability</a:t>
            </a:r>
            <a:endParaRPr lang="en-US" sz="850" dirty="0"/>
          </a:p>
        </p:txBody>
      </p:sp>
      <p:sp>
        <p:nvSpPr>
          <p:cNvPr id="29" name="Text 25"/>
          <p:cNvSpPr/>
          <p:nvPr/>
        </p:nvSpPr>
        <p:spPr>
          <a:xfrm>
            <a:off x="10058400" y="6394450"/>
            <a:ext cx="1320800" cy="133350"/>
          </a:xfrm>
          <a:prstGeom prst="rect">
            <a:avLst/>
          </a:prstGeom>
          <a:noFill/>
          <a:ln/>
        </p:spPr>
        <p:txBody>
          <a:bodyPr wrap="square" lIns="0" tIns="0" rIns="0" bIns="0" rtlCol="0" anchor="t">
            <a:normAutofit/>
          </a:bodyPr>
          <a:lstStyle/>
          <a:p>
            <a:pPr algn="r" indent="0" marL="0">
              <a:lnSpc>
                <a:spcPts val="850"/>
              </a:lnSpc>
              <a:buNone/>
            </a:pPr>
            <a:r>
              <a:rPr lang="en-US" sz="850" spc="15" kern="0" dirty="0">
                <a:solidFill>
                  <a:srgbClr val="6B645C"/>
                </a:solidFill>
                <a:latin typeface="Inter" pitchFamily="34" charset="0"/>
                <a:ea typeface="Inter" pitchFamily="34" charset="-122"/>
                <a:cs typeface="Inter" pitchFamily="34" charset="-120"/>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4618"/>
        </a:solidFill>
      </p:bgPr>
    </p:bg>
    <p:spTree>
      <p:nvGrpSpPr>
        <p:cNvPr id="1" name=""/>
        <p:cNvGrpSpPr/>
        <p:nvPr/>
      </p:nvGrpSpPr>
      <p:grpSpPr>
        <a:xfrm>
          <a:off x="0" y="0"/>
          <a:ext cx="0" cy="0"/>
          <a:chOff x="0" y="0"/>
          <a:chExt cx="0" cy="0"/>
        </a:xfrm>
      </p:grpSpPr>
      <p:sp>
        <p:nvSpPr>
          <p:cNvPr id="2" name="Text 0"/>
          <p:cNvSpPr/>
          <p:nvPr/>
        </p:nvSpPr>
        <p:spPr>
          <a:xfrm>
            <a:off x="812800" y="812800"/>
            <a:ext cx="6540500" cy="146050"/>
          </a:xfrm>
          <a:prstGeom prst="rect">
            <a:avLst/>
          </a:prstGeom>
          <a:noFill/>
          <a:ln/>
        </p:spPr>
        <p:txBody>
          <a:bodyPr wrap="square" lIns="0" tIns="0" rIns="0" bIns="0" rtlCol="0" anchor="t">
            <a:normAutofit/>
          </a:bodyPr>
          <a:lstStyle/>
          <a:p>
            <a:pPr algn="l" indent="0" marL="0">
              <a:lnSpc>
                <a:spcPts val="950"/>
              </a:lnSpc>
              <a:buNone/>
            </a:pPr>
            <a:r>
              <a:rPr lang="en-US" sz="950" b="1" spc="20" kern="0" dirty="0">
                <a:solidFill>
                  <a:srgbClr val="ADEE68"/>
                </a:solidFill>
                <a:latin typeface="Inter" pitchFamily="34" charset="0"/>
                <a:ea typeface="Inter" pitchFamily="34" charset="-122"/>
                <a:cs typeface="Inter" pitchFamily="34" charset="-120"/>
              </a:rPr>
              <a:t>03</a:t>
            </a:r>
            <a:r>
              <a:rPr lang="en-US" sz="950" spc="20" kern="0" dirty="0">
                <a:solidFill>
                  <a:srgbClr val="CEF5A4"/>
                </a:solidFill>
                <a:latin typeface="Inter" pitchFamily="34" charset="0"/>
                <a:ea typeface="Inter" pitchFamily="34" charset="-122"/>
                <a:cs typeface="Inter" pitchFamily="34" charset="-120"/>
              </a:rPr>
              <a:t>   Doing it alone</a:t>
            </a:r>
            <a:endParaRPr lang="en-US" sz="950" dirty="0"/>
          </a:p>
        </p:txBody>
      </p:sp>
      <p:sp>
        <p:nvSpPr>
          <p:cNvPr id="3" name="Text 1"/>
          <p:cNvSpPr/>
          <p:nvPr>
            <p:ph type="title"/>
          </p:nvPr>
        </p:nvSpPr>
        <p:spPr>
          <a:xfrm>
            <a:off x="812800" y="1270000"/>
            <a:ext cx="7194550" cy="1244600"/>
          </a:xfrm>
          <a:prstGeom prst="rect">
            <a:avLst/>
          </a:prstGeom>
          <a:noFill/>
          <a:ln/>
        </p:spPr>
        <p:txBody>
          <a:bodyPr wrap="square" lIns="0" tIns="0" rIns="0" bIns="0" rtlCol="0" anchor="t">
            <a:normAutofit/>
          </a:bodyPr>
          <a:lstStyle/>
          <a:p>
            <a:pPr algn="l" indent="0" marL="0">
              <a:lnSpc>
                <a:spcPts val="4800"/>
              </a:lnSpc>
              <a:buNone/>
            </a:pPr>
            <a:r>
              <a:rPr lang="en-US" sz="5000" b="1" i="0" spc="-60" kern="0" dirty="0">
                <a:solidFill>
                  <a:srgbClr val="FFFFFF"/>
                </a:solidFill>
                <a:latin typeface="Barlow Condensed" pitchFamily="34" charset="0"/>
                <a:ea typeface="Barlow Condensed" pitchFamily="34" charset="-122"/>
                <a:cs typeface="Barlow Condensed" pitchFamily="34" charset="-120"/>
              </a:rPr>
              <a:t>Doing it alone wastes </a:t>
            </a:r>
            <a:r>
              <a:rPr lang="en-US" sz="5000" b="1" i="0" spc="-60" kern="0" dirty="0">
                <a:solidFill>
                  <a:srgbClr val="ADEE68"/>
                </a:solidFill>
                <a:latin typeface="Barlow Condensed" pitchFamily="34" charset="0"/>
                <a:ea typeface="Barlow Condensed" pitchFamily="34" charset="-122"/>
                <a:cs typeface="Barlow Condensed" pitchFamily="34" charset="-120"/>
              </a:rPr>
              <a:t>her time and money</a:t>
            </a:r>
            <a:endParaRPr lang="en-US" sz="5000" dirty="0"/>
          </a:p>
        </p:txBody>
      </p:sp>
      <p:sp>
        <p:nvSpPr>
          <p:cNvPr id="4" name="Shape 2"/>
          <p:cNvSpPr/>
          <p:nvPr/>
        </p:nvSpPr>
        <p:spPr>
          <a:xfrm>
            <a:off x="812800" y="3560763"/>
            <a:ext cx="3285034" cy="0"/>
          </a:xfrm>
          <a:prstGeom prst="line">
            <a:avLst/>
          </a:prstGeom>
          <a:noFill/>
          <a:ln w="9525">
            <a:solidFill>
              <a:srgbClr val="FFFFFF">
                <a:alpha val="20000"/>
              </a:srgbClr>
            </a:solidFill>
            <a:prstDash val="solid"/>
          </a:ln>
        </p:spPr>
      </p:sp>
      <p:sp>
        <p:nvSpPr>
          <p:cNvPr id="5" name="Text 3"/>
          <p:cNvSpPr/>
          <p:nvPr/>
        </p:nvSpPr>
        <p:spPr>
          <a:xfrm>
            <a:off x="812800" y="3794125"/>
            <a:ext cx="3383585" cy="431800"/>
          </a:xfrm>
          <a:prstGeom prst="rect">
            <a:avLst/>
          </a:prstGeom>
          <a:noFill/>
          <a:ln/>
        </p:spPr>
        <p:txBody>
          <a:bodyPr wrap="square" lIns="0" tIns="0" rIns="0" bIns="0" rtlCol="0" anchor="t">
            <a:normAutofit/>
          </a:bodyPr>
          <a:lstStyle/>
          <a:p>
            <a:pPr algn="l" indent="0" marL="0">
              <a:lnSpc>
                <a:spcPts val="3200"/>
              </a:lnSpc>
              <a:buNone/>
            </a:pPr>
            <a:r>
              <a:rPr lang="en-US" sz="3200" b="1" spc="-15" kern="0" dirty="0">
                <a:solidFill>
                  <a:srgbClr val="FFFFFF"/>
                </a:solidFill>
                <a:latin typeface="Barlow Condensed" pitchFamily="34" charset="0"/>
                <a:ea typeface="Barlow Condensed" pitchFamily="34" charset="-122"/>
                <a:cs typeface="Barlow Condensed" pitchFamily="34" charset="-120"/>
              </a:rPr>
              <a:t>35 h</a:t>
            </a:r>
            <a:endParaRPr lang="en-US" sz="3200" dirty="0"/>
          </a:p>
        </p:txBody>
      </p:sp>
      <p:sp>
        <p:nvSpPr>
          <p:cNvPr id="6" name="Text 4"/>
          <p:cNvSpPr/>
          <p:nvPr/>
        </p:nvSpPr>
        <p:spPr>
          <a:xfrm>
            <a:off x="812800" y="4327525"/>
            <a:ext cx="3383585" cy="501650"/>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CEF5A4"/>
                </a:solidFill>
                <a:latin typeface="Inter" pitchFamily="34" charset="0"/>
                <a:ea typeface="Inter" pitchFamily="34" charset="-122"/>
                <a:cs typeface="Inter" pitchFamily="34" charset="-120"/>
              </a:rPr>
              <a:t>of research, forms and translating, mostly at night</a:t>
            </a:r>
            <a:endParaRPr lang="en-US" sz="1250" dirty="0"/>
          </a:p>
        </p:txBody>
      </p:sp>
      <p:sp>
        <p:nvSpPr>
          <p:cNvPr id="7" name="Shape 5"/>
          <p:cNvSpPr/>
          <p:nvPr/>
        </p:nvSpPr>
        <p:spPr>
          <a:xfrm>
            <a:off x="4453434" y="3560763"/>
            <a:ext cx="3285083" cy="0"/>
          </a:xfrm>
          <a:prstGeom prst="line">
            <a:avLst/>
          </a:prstGeom>
          <a:noFill/>
          <a:ln w="9525">
            <a:solidFill>
              <a:srgbClr val="FFFFFF">
                <a:alpha val="20000"/>
              </a:srgbClr>
            </a:solidFill>
            <a:prstDash val="solid"/>
          </a:ln>
        </p:spPr>
      </p:sp>
      <p:sp>
        <p:nvSpPr>
          <p:cNvPr id="8" name="Text 6"/>
          <p:cNvSpPr/>
          <p:nvPr/>
        </p:nvSpPr>
        <p:spPr>
          <a:xfrm>
            <a:off x="4453434" y="3794125"/>
            <a:ext cx="3383636" cy="431800"/>
          </a:xfrm>
          <a:prstGeom prst="rect">
            <a:avLst/>
          </a:prstGeom>
          <a:noFill/>
          <a:ln/>
        </p:spPr>
        <p:txBody>
          <a:bodyPr wrap="square" lIns="0" tIns="0" rIns="0" bIns="0" rtlCol="0" anchor="t">
            <a:normAutofit/>
          </a:bodyPr>
          <a:lstStyle/>
          <a:p>
            <a:pPr algn="l" indent="0" marL="0">
              <a:lnSpc>
                <a:spcPts val="3200"/>
              </a:lnSpc>
              <a:buNone/>
            </a:pPr>
            <a:r>
              <a:rPr lang="en-US" sz="3200" b="1" spc="-15" kern="0" dirty="0">
                <a:solidFill>
                  <a:srgbClr val="FFFFFF"/>
                </a:solidFill>
                <a:latin typeface="Barlow Condensed" pitchFamily="34" charset="0"/>
                <a:ea typeface="Barlow Condensed" pitchFamily="34" charset="-122"/>
                <a:cs typeface="Barlow Condensed" pitchFamily="34" charset="-120"/>
              </a:rPr>
              <a:t>1.300 €</a:t>
            </a:r>
            <a:endParaRPr lang="en-US" sz="3200" dirty="0"/>
          </a:p>
        </p:txBody>
      </p:sp>
      <p:sp>
        <p:nvSpPr>
          <p:cNvPr id="9" name="Text 7"/>
          <p:cNvSpPr/>
          <p:nvPr/>
        </p:nvSpPr>
        <p:spPr>
          <a:xfrm>
            <a:off x="4453434" y="4327525"/>
            <a:ext cx="3383636" cy="501650"/>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CEF5A4"/>
                </a:solidFill>
                <a:latin typeface="Inter" pitchFamily="34" charset="0"/>
                <a:ea typeface="Inter" pitchFamily="34" charset="-122"/>
                <a:cs typeface="Inter" pitchFamily="34" charset="-120"/>
              </a:rPr>
              <a:t>for a tax advisor and translator, if she pays instead</a:t>
            </a:r>
            <a:endParaRPr lang="en-US" sz="1250" dirty="0"/>
          </a:p>
        </p:txBody>
      </p:sp>
      <p:sp>
        <p:nvSpPr>
          <p:cNvPr id="10" name="Shape 8"/>
          <p:cNvSpPr/>
          <p:nvPr/>
        </p:nvSpPr>
        <p:spPr>
          <a:xfrm>
            <a:off x="8094117" y="3560763"/>
            <a:ext cx="3285034" cy="0"/>
          </a:xfrm>
          <a:prstGeom prst="line">
            <a:avLst/>
          </a:prstGeom>
          <a:noFill/>
          <a:ln w="9525">
            <a:solidFill>
              <a:srgbClr val="FFFFFF">
                <a:alpha val="20000"/>
              </a:srgbClr>
            </a:solidFill>
            <a:prstDash val="solid"/>
          </a:ln>
        </p:spPr>
      </p:sp>
      <p:sp>
        <p:nvSpPr>
          <p:cNvPr id="11" name="Text 9"/>
          <p:cNvSpPr/>
          <p:nvPr/>
        </p:nvSpPr>
        <p:spPr>
          <a:xfrm>
            <a:off x="8094117" y="3794125"/>
            <a:ext cx="3383585" cy="431800"/>
          </a:xfrm>
          <a:prstGeom prst="rect">
            <a:avLst/>
          </a:prstGeom>
          <a:noFill/>
          <a:ln/>
        </p:spPr>
        <p:txBody>
          <a:bodyPr wrap="square" lIns="0" tIns="0" rIns="0" bIns="0" rtlCol="0" anchor="t">
            <a:normAutofit/>
          </a:bodyPr>
          <a:lstStyle/>
          <a:p>
            <a:pPr algn="l" indent="0" marL="0">
              <a:lnSpc>
                <a:spcPts val="3200"/>
              </a:lnSpc>
              <a:buNone/>
            </a:pPr>
            <a:r>
              <a:rPr lang="en-US" sz="3200" b="1" spc="-15" kern="0" dirty="0">
                <a:solidFill>
                  <a:srgbClr val="FFFFFF"/>
                </a:solidFill>
                <a:latin typeface="Barlow Condensed" pitchFamily="34" charset="0"/>
                <a:ea typeface="Barlow Condensed" pitchFamily="34" charset="-122"/>
                <a:cs typeface="Barlow Condensed" pitchFamily="34" charset="-120"/>
              </a:rPr>
              <a:t>150</a:t>
            </a:r>
            <a:endParaRPr lang="en-US" sz="3200" dirty="0"/>
          </a:p>
        </p:txBody>
      </p:sp>
      <p:sp>
        <p:nvSpPr>
          <p:cNvPr id="12" name="Text 10"/>
          <p:cNvSpPr/>
          <p:nvPr/>
        </p:nvSpPr>
        <p:spPr>
          <a:xfrm>
            <a:off x="8094117" y="4327525"/>
            <a:ext cx="3383585" cy="501650"/>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CEF5A4"/>
                </a:solidFill>
                <a:latin typeface="Inter" pitchFamily="34" charset="0"/>
                <a:ea typeface="Inter" pitchFamily="34" charset="-122"/>
                <a:cs typeface="Inter" pitchFamily="34" charset="-120"/>
              </a:rPr>
              <a:t>appointments a year to book and attend, about 6 h a week</a:t>
            </a:r>
            <a:endParaRPr lang="en-US" sz="1250" dirty="0"/>
          </a:p>
        </p:txBody>
      </p:sp>
      <p:sp>
        <p:nvSpPr>
          <p:cNvPr id="13" name="Text 11"/>
          <p:cNvSpPr/>
          <p:nvPr/>
        </p:nvSpPr>
        <p:spPr>
          <a:xfrm>
            <a:off x="812800" y="5944890"/>
            <a:ext cx="10883392" cy="176510"/>
          </a:xfrm>
          <a:prstGeom prst="rect">
            <a:avLst/>
          </a:prstGeom>
          <a:noFill/>
          <a:ln/>
        </p:spPr>
        <p:txBody>
          <a:bodyPr wrap="square" lIns="0" tIns="0" rIns="0" bIns="0" rtlCol="0" anchor="t">
            <a:normAutofit/>
          </a:bodyPr>
          <a:lstStyle/>
          <a:p>
            <a:pPr algn="l" indent="0" marL="0">
              <a:lnSpc>
                <a:spcPts val="1190"/>
              </a:lnSpc>
              <a:buNone/>
            </a:pPr>
            <a:r>
              <a:rPr lang="en-US" sz="850" dirty="0">
                <a:solidFill>
                  <a:srgbClr val="FFFFFF">
                    <a:alpha val="55000"/>
                  </a:srgbClr>
                </a:solidFill>
                <a:latin typeface="Inter" pitchFamily="34" charset="0"/>
                <a:ea typeface="Inter" pitchFamily="34" charset="-122"/>
                <a:cs typeface="Inter" pitchFamily="34" charset="-120"/>
              </a:rPr>
              <a:t>Plus 12+ forms across five offices: Finanzamt (tax office), Familienkasse (child benefit), Versorgungsamt (disability ID), Pflegekasse (care insurance), Jugendamt (youth office) · Team estimates</a:t>
            </a:r>
            <a:endParaRPr lang="en-US" sz="850" dirty="0"/>
          </a:p>
        </p:txBody>
      </p:sp>
      <p:sp>
        <p:nvSpPr>
          <p:cNvPr id="14" name="Text 12"/>
          <p:cNvSpPr/>
          <p:nvPr/>
        </p:nvSpPr>
        <p:spPr>
          <a:xfrm>
            <a:off x="812800" y="6394450"/>
            <a:ext cx="3924300" cy="133350"/>
          </a:xfrm>
          <a:prstGeom prst="rect">
            <a:avLst/>
          </a:prstGeom>
          <a:noFill/>
          <a:ln/>
        </p:spPr>
        <p:txBody>
          <a:bodyPr wrap="square" lIns="0" tIns="0" rIns="0" bIns="0" rtlCol="0" anchor="t">
            <a:normAutofit/>
          </a:bodyPr>
          <a:lstStyle/>
          <a:p>
            <a:pPr algn="l" indent="0" marL="0">
              <a:lnSpc>
                <a:spcPts val="850"/>
              </a:lnSpc>
              <a:buNone/>
            </a:pPr>
            <a:r>
              <a:rPr lang="en-US" sz="850" b="1" spc="15" kern="0" dirty="0">
                <a:solidFill>
                  <a:srgbClr val="FFFFFF">
                    <a:alpha val="55000"/>
                  </a:srgbClr>
                </a:solidFill>
                <a:latin typeface="Inter" pitchFamily="34" charset="0"/>
                <a:ea typeface="Inter" pitchFamily="34" charset="-122"/>
                <a:cs typeface="Inter" pitchFamily="34" charset="-120"/>
              </a:rPr>
              <a:t>Taxability</a:t>
            </a:r>
            <a:endParaRPr lang="en-US" sz="850" dirty="0"/>
          </a:p>
        </p:txBody>
      </p:sp>
      <p:sp>
        <p:nvSpPr>
          <p:cNvPr id="15" name="Text 13"/>
          <p:cNvSpPr/>
          <p:nvPr/>
        </p:nvSpPr>
        <p:spPr>
          <a:xfrm>
            <a:off x="10058400" y="6394450"/>
            <a:ext cx="1320800" cy="133350"/>
          </a:xfrm>
          <a:prstGeom prst="rect">
            <a:avLst/>
          </a:prstGeom>
          <a:noFill/>
          <a:ln/>
        </p:spPr>
        <p:txBody>
          <a:bodyPr wrap="square" lIns="0" tIns="0" rIns="0" bIns="0" rtlCol="0" anchor="t">
            <a:normAutofit/>
          </a:bodyPr>
          <a:lstStyle/>
          <a:p>
            <a:pPr algn="r" indent="0" marL="0">
              <a:lnSpc>
                <a:spcPts val="850"/>
              </a:lnSpc>
              <a:buNone/>
            </a:pPr>
            <a:r>
              <a:rPr lang="en-US" sz="850" spc="15" kern="0" dirty="0">
                <a:solidFill>
                  <a:srgbClr val="FFFFFF">
                    <a:alpha val="55000"/>
                  </a:srgbClr>
                </a:solidFill>
                <a:latin typeface="Inter" pitchFamily="34" charset="0"/>
                <a:ea typeface="Inter" pitchFamily="34" charset="-122"/>
                <a:cs typeface="Inter"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8F2"/>
        </a:solidFill>
      </p:bgPr>
    </p:bg>
    <p:spTree>
      <p:nvGrpSpPr>
        <p:cNvPr id="1" name=""/>
        <p:cNvGrpSpPr/>
        <p:nvPr/>
      </p:nvGrpSpPr>
      <p:grpSpPr>
        <a:xfrm>
          <a:off x="0" y="0"/>
          <a:ext cx="0" cy="0"/>
          <a:chOff x="0" y="0"/>
          <a:chExt cx="0" cy="0"/>
        </a:xfrm>
      </p:grpSpPr>
      <p:sp>
        <p:nvSpPr>
          <p:cNvPr id="2" name="Text 0"/>
          <p:cNvSpPr/>
          <p:nvPr/>
        </p:nvSpPr>
        <p:spPr>
          <a:xfrm>
            <a:off x="812800" y="812800"/>
            <a:ext cx="6540500" cy="146050"/>
          </a:xfrm>
          <a:prstGeom prst="rect">
            <a:avLst/>
          </a:prstGeom>
          <a:noFill/>
          <a:ln/>
        </p:spPr>
        <p:txBody>
          <a:bodyPr wrap="square" lIns="0" tIns="0" rIns="0" bIns="0" rtlCol="0" anchor="t">
            <a:normAutofit/>
          </a:bodyPr>
          <a:lstStyle/>
          <a:p>
            <a:pPr algn="l" indent="0" marL="0">
              <a:lnSpc>
                <a:spcPts val="950"/>
              </a:lnSpc>
              <a:buNone/>
            </a:pPr>
            <a:r>
              <a:rPr lang="en-US" sz="950" b="1" spc="20" kern="0" dirty="0">
                <a:solidFill>
                  <a:srgbClr val="0C0B0A"/>
                </a:solidFill>
                <a:latin typeface="Inter" pitchFamily="34" charset="0"/>
                <a:ea typeface="Inter" pitchFamily="34" charset="-122"/>
                <a:cs typeface="Inter" pitchFamily="34" charset="-120"/>
              </a:rPr>
              <a:t>04</a:t>
            </a:r>
            <a:r>
              <a:rPr lang="en-US" sz="950" spc="20" kern="0" dirty="0">
                <a:solidFill>
                  <a:srgbClr val="6B645C"/>
                </a:solidFill>
                <a:latin typeface="Inter" pitchFamily="34" charset="0"/>
                <a:ea typeface="Inter" pitchFamily="34" charset="-122"/>
                <a:cs typeface="Inter" pitchFamily="34" charset="-120"/>
              </a:rPr>
              <a:t>   The opportunity</a:t>
            </a:r>
            <a:endParaRPr lang="en-US" sz="950" dirty="0"/>
          </a:p>
        </p:txBody>
      </p:sp>
      <p:sp>
        <p:nvSpPr>
          <p:cNvPr id="3" name="Text 1"/>
          <p:cNvSpPr/>
          <p:nvPr>
            <p:ph type="title"/>
          </p:nvPr>
        </p:nvSpPr>
        <p:spPr>
          <a:xfrm>
            <a:off x="812800" y="1270000"/>
            <a:ext cx="8502650" cy="1244600"/>
          </a:xfrm>
          <a:prstGeom prst="rect">
            <a:avLst/>
          </a:prstGeom>
          <a:noFill/>
          <a:ln/>
        </p:spPr>
        <p:txBody>
          <a:bodyPr wrap="square" lIns="0" tIns="0" rIns="0" bIns="0" rtlCol="0" anchor="t">
            <a:normAutofit/>
          </a:bodyPr>
          <a:lstStyle/>
          <a:p>
            <a:pPr algn="l" indent="0" marL="0">
              <a:lnSpc>
                <a:spcPts val="4800"/>
              </a:lnSpc>
              <a:buNone/>
            </a:pPr>
            <a:r>
              <a:rPr lang="en-US" sz="5000" b="1" i="0" spc="-60" kern="0" dirty="0">
                <a:solidFill>
                  <a:srgbClr val="0C0B0A"/>
                </a:solidFill>
                <a:latin typeface="Barlow Condensed" pitchFamily="34" charset="0"/>
                <a:ea typeface="Barlow Condensed" pitchFamily="34" charset="-122"/>
                <a:cs typeface="Barlow Condensed" pitchFamily="34" charset="-120"/>
              </a:rPr>
              <a:t>More families need help every year, and each misses 104.000 € by age 18</a:t>
            </a:r>
            <a:endParaRPr lang="en-US" sz="5000" dirty="0"/>
          </a:p>
        </p:txBody>
      </p:sp>
      <p:sp>
        <p:nvSpPr>
          <p:cNvPr id="4" name="Shape 2"/>
          <p:cNvSpPr/>
          <p:nvPr/>
        </p:nvSpPr>
        <p:spPr>
          <a:xfrm>
            <a:off x="812800" y="3306763"/>
            <a:ext cx="3285034" cy="0"/>
          </a:xfrm>
          <a:prstGeom prst="line">
            <a:avLst/>
          </a:prstGeom>
          <a:noFill/>
          <a:ln w="9525">
            <a:solidFill>
              <a:srgbClr val="0C0B0A"/>
            </a:solidFill>
            <a:prstDash val="solid"/>
          </a:ln>
        </p:spPr>
      </p:sp>
      <p:sp>
        <p:nvSpPr>
          <p:cNvPr id="5" name="Text 3"/>
          <p:cNvSpPr/>
          <p:nvPr/>
        </p:nvSpPr>
        <p:spPr>
          <a:xfrm>
            <a:off x="812800" y="3565525"/>
            <a:ext cx="3383585" cy="921494"/>
          </a:xfrm>
          <a:prstGeom prst="rect">
            <a:avLst/>
          </a:prstGeom>
          <a:noFill/>
          <a:ln/>
        </p:spPr>
        <p:txBody>
          <a:bodyPr wrap="square" lIns="0" tIns="0" rIns="0" bIns="0" rtlCol="0" anchor="t">
            <a:normAutofit/>
          </a:bodyPr>
          <a:lstStyle/>
          <a:p>
            <a:pPr algn="l" indent="0" marL="0">
              <a:lnSpc>
                <a:spcPts val="7056"/>
              </a:lnSpc>
              <a:buNone/>
            </a:pPr>
            <a:r>
              <a:rPr lang="en-US" sz="8400" b="1" spc="-200" kern="0" dirty="0">
                <a:solidFill>
                  <a:srgbClr val="0C0B0A"/>
                </a:solidFill>
                <a:latin typeface="Barlow Condensed" pitchFamily="34" charset="0"/>
                <a:ea typeface="Barlow Condensed" pitchFamily="34" charset="-122"/>
                <a:cs typeface="Barlow Condensed" pitchFamily="34" charset="-120"/>
              </a:rPr>
              <a:t>+8%</a:t>
            </a:r>
            <a:endParaRPr lang="en-US" sz="8400" dirty="0"/>
          </a:p>
        </p:txBody>
      </p:sp>
      <p:sp>
        <p:nvSpPr>
          <p:cNvPr id="6" name="Text 4"/>
          <p:cNvSpPr/>
          <p:nvPr/>
        </p:nvSpPr>
        <p:spPr>
          <a:xfrm>
            <a:off x="812800" y="4639419"/>
            <a:ext cx="3383585" cy="269230"/>
          </a:xfrm>
          <a:prstGeom prst="rect">
            <a:avLst/>
          </a:prstGeom>
          <a:noFill/>
          <a:ln/>
        </p:spPr>
        <p:txBody>
          <a:bodyPr wrap="square" lIns="0" tIns="0" rIns="0" bIns="0" rtlCol="0" anchor="t">
            <a:normAutofit/>
          </a:bodyPr>
          <a:lstStyle/>
          <a:p>
            <a:pPr algn="l"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autism diagnoses a year</a:t>
            </a:r>
            <a:endParaRPr lang="en-US" sz="1600" dirty="0"/>
          </a:p>
        </p:txBody>
      </p:sp>
      <p:sp>
        <p:nvSpPr>
          <p:cNvPr id="7" name="Text 5"/>
          <p:cNvSpPr/>
          <p:nvPr/>
        </p:nvSpPr>
        <p:spPr>
          <a:xfrm>
            <a:off x="812800" y="4934049"/>
            <a:ext cx="3383585" cy="327620"/>
          </a:xfrm>
          <a:prstGeom prst="rect">
            <a:avLst/>
          </a:prstGeom>
          <a:noFill/>
          <a:ln/>
        </p:spPr>
        <p:txBody>
          <a:bodyPr wrap="square" lIns="0" tIns="0" rIns="0" bIns="0" rtlCol="0" anchor="t">
            <a:normAutofit/>
          </a:bodyPr>
          <a:lstStyle/>
          <a:p>
            <a:pPr algn="l" indent="0" marL="0">
              <a:lnSpc>
                <a:spcPts val="1190"/>
              </a:lnSpc>
              <a:buNone/>
            </a:pPr>
            <a:r>
              <a:rPr lang="en-US" sz="850" dirty="0">
                <a:solidFill>
                  <a:srgbClr val="6B645C"/>
                </a:solidFill>
                <a:latin typeface="Inter" pitchFamily="34" charset="0"/>
                <a:ea typeface="Inter" pitchFamily="34" charset="-122"/>
                <a:cs typeface="Inter" pitchFamily="34" charset="-120"/>
              </a:rPr>
              <a:t>≈ 200.000 young people (0–24) today, ≈ 10.000 more a year (our estimate) · hkk 2013–2024</a:t>
            </a:r>
            <a:endParaRPr lang="en-US" sz="850" dirty="0"/>
          </a:p>
        </p:txBody>
      </p:sp>
      <p:sp>
        <p:nvSpPr>
          <p:cNvPr id="8" name="Shape 6"/>
          <p:cNvSpPr/>
          <p:nvPr/>
        </p:nvSpPr>
        <p:spPr>
          <a:xfrm>
            <a:off x="4453434" y="3306763"/>
            <a:ext cx="3285083" cy="0"/>
          </a:xfrm>
          <a:prstGeom prst="line">
            <a:avLst/>
          </a:prstGeom>
          <a:noFill/>
          <a:ln w="9525">
            <a:solidFill>
              <a:srgbClr val="0C0B0A">
                <a:alpha val="16000"/>
              </a:srgbClr>
            </a:solidFill>
            <a:prstDash val="solid"/>
          </a:ln>
        </p:spPr>
      </p:sp>
      <p:sp>
        <p:nvSpPr>
          <p:cNvPr id="9" name="Text 7"/>
          <p:cNvSpPr/>
          <p:nvPr/>
        </p:nvSpPr>
        <p:spPr>
          <a:xfrm>
            <a:off x="4453434" y="3565525"/>
            <a:ext cx="3383636" cy="921494"/>
          </a:xfrm>
          <a:prstGeom prst="rect">
            <a:avLst/>
          </a:prstGeom>
          <a:noFill/>
          <a:ln/>
        </p:spPr>
        <p:txBody>
          <a:bodyPr wrap="square" lIns="0" tIns="0" rIns="0" bIns="0" rtlCol="0" anchor="t">
            <a:normAutofit/>
          </a:bodyPr>
          <a:lstStyle/>
          <a:p>
            <a:pPr algn="l" indent="0" marL="0">
              <a:lnSpc>
                <a:spcPts val="7056"/>
              </a:lnSpc>
              <a:buNone/>
            </a:pPr>
            <a:r>
              <a:rPr lang="en-US" sz="8400" b="1" spc="-200" kern="0" dirty="0">
                <a:solidFill>
                  <a:srgbClr val="0C0B0A"/>
                </a:solidFill>
                <a:latin typeface="Barlow Condensed" pitchFamily="34" charset="0"/>
                <a:ea typeface="Barlow Condensed" pitchFamily="34" charset="-122"/>
                <a:cs typeface="Barlow Condensed" pitchFamily="34" charset="-120"/>
              </a:rPr>
              <a:t>+3%</a:t>
            </a:r>
            <a:endParaRPr lang="en-US" sz="8400" dirty="0"/>
          </a:p>
        </p:txBody>
      </p:sp>
      <p:sp>
        <p:nvSpPr>
          <p:cNvPr id="10" name="Text 8"/>
          <p:cNvSpPr/>
          <p:nvPr/>
        </p:nvSpPr>
        <p:spPr>
          <a:xfrm>
            <a:off x="4453434" y="4639419"/>
            <a:ext cx="3383636" cy="513060"/>
          </a:xfrm>
          <a:prstGeom prst="rect">
            <a:avLst/>
          </a:prstGeom>
          <a:noFill/>
          <a:ln/>
        </p:spPr>
        <p:txBody>
          <a:bodyPr wrap="square" lIns="0" tIns="0" rIns="0" bIns="0" rtlCol="0" anchor="t">
            <a:normAutofit/>
          </a:bodyPr>
          <a:lstStyle/>
          <a:p>
            <a:pPr algn="l"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children with a severe disability a year</a:t>
            </a:r>
            <a:endParaRPr lang="en-US" sz="1600" dirty="0"/>
          </a:p>
        </p:txBody>
      </p:sp>
      <p:sp>
        <p:nvSpPr>
          <p:cNvPr id="11" name="Text 9"/>
          <p:cNvSpPr/>
          <p:nvPr/>
        </p:nvSpPr>
        <p:spPr>
          <a:xfrm>
            <a:off x="4453434" y="5177879"/>
            <a:ext cx="3383636" cy="327620"/>
          </a:xfrm>
          <a:prstGeom prst="rect">
            <a:avLst/>
          </a:prstGeom>
          <a:noFill/>
          <a:ln/>
        </p:spPr>
        <p:txBody>
          <a:bodyPr wrap="square" lIns="0" tIns="0" rIns="0" bIns="0" rtlCol="0" anchor="t">
            <a:normAutofit/>
          </a:bodyPr>
          <a:lstStyle/>
          <a:p>
            <a:pPr algn="l" indent="0" marL="0">
              <a:lnSpc>
                <a:spcPts val="1190"/>
              </a:lnSpc>
              <a:buNone/>
            </a:pPr>
            <a:r>
              <a:rPr lang="en-US" sz="850" dirty="0">
                <a:solidFill>
                  <a:srgbClr val="6B645C"/>
                </a:solidFill>
                <a:latin typeface="Inter" pitchFamily="34" charset="0"/>
                <a:ea typeface="Inter" pitchFamily="34" charset="-122"/>
                <a:cs typeface="Inter" pitchFamily="34" charset="-120"/>
              </a:rPr>
              <a:t>231.000 today, ≈ 6.000 more a year · Destatis 2025, Bundestag 19/1623</a:t>
            </a:r>
            <a:endParaRPr lang="en-US" sz="850" dirty="0"/>
          </a:p>
        </p:txBody>
      </p:sp>
      <p:sp>
        <p:nvSpPr>
          <p:cNvPr id="12" name="Shape 10"/>
          <p:cNvSpPr/>
          <p:nvPr/>
        </p:nvSpPr>
        <p:spPr>
          <a:xfrm>
            <a:off x="8094117" y="3306763"/>
            <a:ext cx="3285034" cy="0"/>
          </a:xfrm>
          <a:prstGeom prst="line">
            <a:avLst/>
          </a:prstGeom>
          <a:noFill/>
          <a:ln w="9525">
            <a:solidFill>
              <a:srgbClr val="0C0B0A">
                <a:alpha val="16000"/>
              </a:srgbClr>
            </a:solidFill>
            <a:prstDash val="solid"/>
          </a:ln>
        </p:spPr>
      </p:sp>
      <p:sp>
        <p:nvSpPr>
          <p:cNvPr id="13" name="Text 11"/>
          <p:cNvSpPr/>
          <p:nvPr/>
        </p:nvSpPr>
        <p:spPr>
          <a:xfrm>
            <a:off x="8094117" y="3565525"/>
            <a:ext cx="3383585" cy="921494"/>
          </a:xfrm>
          <a:prstGeom prst="rect">
            <a:avLst/>
          </a:prstGeom>
          <a:noFill/>
          <a:ln/>
        </p:spPr>
        <p:txBody>
          <a:bodyPr wrap="square" lIns="0" tIns="0" rIns="0" bIns="0" rtlCol="0" anchor="t">
            <a:normAutofit/>
          </a:bodyPr>
          <a:lstStyle/>
          <a:p>
            <a:pPr algn="l" indent="0" marL="0">
              <a:lnSpc>
                <a:spcPts val="7056"/>
              </a:lnSpc>
              <a:buNone/>
            </a:pPr>
            <a:r>
              <a:rPr lang="en-US" sz="8400" b="1" spc="-200" kern="0" dirty="0">
                <a:solidFill>
                  <a:srgbClr val="0C0B0A"/>
                </a:solidFill>
                <a:latin typeface="Barlow Condensed" pitchFamily="34" charset="0"/>
                <a:ea typeface="Barlow Condensed" pitchFamily="34" charset="-122"/>
                <a:cs typeface="Barlow Condensed" pitchFamily="34" charset="-120"/>
              </a:rPr>
              <a:t>1–2k</a:t>
            </a:r>
            <a:endParaRPr lang="en-US" sz="8400" dirty="0"/>
          </a:p>
        </p:txBody>
      </p:sp>
      <p:sp>
        <p:nvSpPr>
          <p:cNvPr id="14" name="Text 12"/>
          <p:cNvSpPr/>
          <p:nvPr/>
        </p:nvSpPr>
        <p:spPr>
          <a:xfrm>
            <a:off x="8094117" y="4639419"/>
            <a:ext cx="3383585" cy="269230"/>
          </a:xfrm>
          <a:prstGeom prst="rect">
            <a:avLst/>
          </a:prstGeom>
          <a:noFill/>
          <a:ln/>
        </p:spPr>
        <p:txBody>
          <a:bodyPr wrap="square" lIns="0" tIns="0" rIns="0" bIns="0" rtlCol="0" anchor="t">
            <a:normAutofit/>
          </a:bodyPr>
          <a:lstStyle/>
          <a:p>
            <a:pPr algn="l"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core families like Lisa’s</a:t>
            </a:r>
            <a:endParaRPr lang="en-US" sz="1600" dirty="0"/>
          </a:p>
        </p:txBody>
      </p:sp>
      <p:sp>
        <p:nvSpPr>
          <p:cNvPr id="15" name="Text 13"/>
          <p:cNvSpPr/>
          <p:nvPr/>
        </p:nvSpPr>
        <p:spPr>
          <a:xfrm>
            <a:off x="8094117" y="4934049"/>
            <a:ext cx="3383585" cy="327620"/>
          </a:xfrm>
          <a:prstGeom prst="rect">
            <a:avLst/>
          </a:prstGeom>
          <a:noFill/>
          <a:ln/>
        </p:spPr>
        <p:txBody>
          <a:bodyPr wrap="square" lIns="0" tIns="0" rIns="0" bIns="0" rtlCol="0" anchor="t">
            <a:normAutofit/>
          </a:bodyPr>
          <a:lstStyle/>
          <a:p>
            <a:pPr algn="l" indent="0" marL="0">
              <a:lnSpc>
                <a:spcPts val="1190"/>
              </a:lnSpc>
              <a:buNone/>
            </a:pPr>
            <a:r>
              <a:rPr lang="en-US" sz="850" dirty="0">
                <a:solidFill>
                  <a:srgbClr val="6B645C"/>
                </a:solidFill>
                <a:latin typeface="Inter" pitchFamily="34" charset="0"/>
                <a:ea typeface="Inter" pitchFamily="34" charset="-122"/>
                <a:cs typeface="Inter" pitchFamily="34" charset="-120"/>
              </a:rPr>
              <a:t>Each misses ≈ 8.000 € a year: 8–16 Mio. € a year in total, 104–208 Mio. € by age 18 (our estimate)</a:t>
            </a:r>
            <a:endParaRPr lang="en-US" sz="850" dirty="0"/>
          </a:p>
        </p:txBody>
      </p:sp>
      <p:sp>
        <p:nvSpPr>
          <p:cNvPr id="16" name="Text 14"/>
          <p:cNvSpPr/>
          <p:nvPr/>
        </p:nvSpPr>
        <p:spPr>
          <a:xfrm>
            <a:off x="812800" y="6394450"/>
            <a:ext cx="3924300" cy="133350"/>
          </a:xfrm>
          <a:prstGeom prst="rect">
            <a:avLst/>
          </a:prstGeom>
          <a:noFill/>
          <a:ln/>
        </p:spPr>
        <p:txBody>
          <a:bodyPr wrap="square" lIns="0" tIns="0" rIns="0" bIns="0" rtlCol="0" anchor="t">
            <a:normAutofit/>
          </a:bodyPr>
          <a:lstStyle/>
          <a:p>
            <a:pPr algn="l" indent="0" marL="0">
              <a:lnSpc>
                <a:spcPts val="850"/>
              </a:lnSpc>
              <a:buNone/>
            </a:pPr>
            <a:r>
              <a:rPr lang="en-US" sz="850" b="1" spc="15" kern="0" dirty="0">
                <a:solidFill>
                  <a:srgbClr val="0C0B0A"/>
                </a:solidFill>
                <a:latin typeface="Inter" pitchFamily="34" charset="0"/>
                <a:ea typeface="Inter" pitchFamily="34" charset="-122"/>
                <a:cs typeface="Inter" pitchFamily="34" charset="-120"/>
              </a:rPr>
              <a:t>Taxability</a:t>
            </a:r>
            <a:endParaRPr lang="en-US" sz="850" dirty="0"/>
          </a:p>
        </p:txBody>
      </p:sp>
      <p:sp>
        <p:nvSpPr>
          <p:cNvPr id="17" name="Text 15"/>
          <p:cNvSpPr/>
          <p:nvPr/>
        </p:nvSpPr>
        <p:spPr>
          <a:xfrm>
            <a:off x="10058400" y="6394450"/>
            <a:ext cx="1320800" cy="133350"/>
          </a:xfrm>
          <a:prstGeom prst="rect">
            <a:avLst/>
          </a:prstGeom>
          <a:noFill/>
          <a:ln/>
        </p:spPr>
        <p:txBody>
          <a:bodyPr wrap="square" lIns="0" tIns="0" rIns="0" bIns="0" rtlCol="0" anchor="t">
            <a:normAutofit/>
          </a:bodyPr>
          <a:lstStyle/>
          <a:p>
            <a:pPr algn="r" indent="0" marL="0">
              <a:lnSpc>
                <a:spcPts val="850"/>
              </a:lnSpc>
              <a:buNone/>
            </a:pPr>
            <a:r>
              <a:rPr lang="en-US" sz="850" spc="15" kern="0" dirty="0">
                <a:solidFill>
                  <a:srgbClr val="6B645C"/>
                </a:solidFill>
                <a:latin typeface="Inter" pitchFamily="34" charset="0"/>
                <a:ea typeface="Inter" pitchFamily="34" charset="-122"/>
                <a:cs typeface="Inter" pitchFamily="34" charset="-120"/>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41900" y="2832100"/>
            <a:ext cx="1587500" cy="2349500"/>
          </a:xfrm>
          <a:prstGeom prst="roundRect">
            <a:avLst>
              <a:gd name="adj" fmla="val 8000"/>
            </a:avLst>
          </a:prstGeom>
          <a:solidFill>
            <a:srgbClr val="ECFFC7"/>
          </a:solidFill>
          <a:ln/>
        </p:spPr>
      </p:sp>
      <p:sp>
        <p:nvSpPr>
          <p:cNvPr id="3" name="Text 1"/>
          <p:cNvSpPr/>
          <p:nvPr/>
        </p:nvSpPr>
        <p:spPr>
          <a:xfrm>
            <a:off x="812800" y="812800"/>
            <a:ext cx="6540500" cy="146050"/>
          </a:xfrm>
          <a:prstGeom prst="rect">
            <a:avLst/>
          </a:prstGeom>
          <a:noFill/>
          <a:ln/>
        </p:spPr>
        <p:txBody>
          <a:bodyPr wrap="square" lIns="0" tIns="0" rIns="0" bIns="0" rtlCol="0" anchor="t">
            <a:normAutofit/>
          </a:bodyPr>
          <a:lstStyle/>
          <a:p>
            <a:pPr algn="l" indent="0" marL="0">
              <a:lnSpc>
                <a:spcPts val="950"/>
              </a:lnSpc>
              <a:buNone/>
            </a:pPr>
            <a:r>
              <a:rPr lang="en-US" sz="950" b="1" spc="20" kern="0" dirty="0">
                <a:solidFill>
                  <a:srgbClr val="0C0B0A"/>
                </a:solidFill>
                <a:latin typeface="Inter" pitchFamily="34" charset="0"/>
                <a:ea typeface="Inter" pitchFamily="34" charset="-122"/>
                <a:cs typeface="Inter" pitchFamily="34" charset="-120"/>
              </a:rPr>
              <a:t>05</a:t>
            </a:r>
            <a:r>
              <a:rPr lang="en-US" sz="950" spc="20" kern="0" dirty="0">
                <a:solidFill>
                  <a:srgbClr val="6B645C"/>
                </a:solidFill>
                <a:latin typeface="Inter" pitchFamily="34" charset="0"/>
                <a:ea typeface="Inter" pitchFamily="34" charset="-122"/>
                <a:cs typeface="Inter" pitchFamily="34" charset="-120"/>
              </a:rPr>
              <a:t>   What makes it different</a:t>
            </a:r>
            <a:endParaRPr lang="en-US" sz="950" dirty="0"/>
          </a:p>
        </p:txBody>
      </p:sp>
      <p:sp>
        <p:nvSpPr>
          <p:cNvPr id="4" name="Text 2"/>
          <p:cNvSpPr/>
          <p:nvPr>
            <p:ph type="title"/>
          </p:nvPr>
        </p:nvSpPr>
        <p:spPr>
          <a:xfrm>
            <a:off x="812800" y="1270000"/>
            <a:ext cx="8502650" cy="1244600"/>
          </a:xfrm>
          <a:prstGeom prst="rect">
            <a:avLst/>
          </a:prstGeom>
          <a:noFill/>
          <a:ln/>
        </p:spPr>
        <p:txBody>
          <a:bodyPr wrap="square" lIns="0" tIns="0" rIns="0" bIns="0" rtlCol="0" anchor="t">
            <a:normAutofit/>
          </a:bodyPr>
          <a:lstStyle/>
          <a:p>
            <a:pPr algn="l" indent="0" marL="0">
              <a:lnSpc>
                <a:spcPts val="4800"/>
              </a:lnSpc>
              <a:buNone/>
            </a:pPr>
            <a:r>
              <a:rPr lang="en-US" sz="5000" b="1" i="0" spc="-60" kern="0" dirty="0">
                <a:solidFill>
                  <a:srgbClr val="0C0B0A"/>
                </a:solidFill>
                <a:latin typeface="Barlow Condensed" pitchFamily="34" charset="0"/>
                <a:ea typeface="Barlow Condensed" pitchFamily="34" charset="-122"/>
                <a:cs typeface="Barlow Condensed" pitchFamily="34" charset="-120"/>
              </a:rPr>
              <a:t>Her language, her situation, her next step</a:t>
            </a:r>
            <a:endParaRPr lang="en-US" sz="5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997200"/>
          <a:ext cx="10553700" cy="2260600"/>
        </p:xfrm>
        <a:graphic>
          <a:graphicData uri="http://schemas.openxmlformats.org/drawingml/2006/table">
            <a:tbl>
              <a:tblPr/>
              <a:tblGrid>
                <a:gridCol w="4221480"/>
                <a:gridCol w="1583055"/>
                <a:gridCol w="1583055"/>
                <a:gridCol w="1583055"/>
                <a:gridCol w="1583055"/>
              </a:tblGrid>
              <a:tr h="565150">
                <a:tc>
                  <a:txBody>
                    <a:bodyPr/>
                    <a:lstStyle/>
                    <a:p>
                      <a:pPr indent="0" marL="0">
                        <a:lnSpc>
                          <a:spcPts val="1750"/>
                        </a:lnSpc>
                        <a:buNone/>
                      </a:pPr>
                      <a:r>
                        <a:rPr lang="en-US" sz="1250" dirty="0">
                          <a:solidFill>
                            <a:srgbClr val="6B645C"/>
                          </a:solidFill>
                          <a:latin typeface="Inter" pitchFamily="34" charset="0"/>
                          <a:ea typeface="Inter" pitchFamily="34" charset="-122"/>
                          <a:cs typeface="Inter" pitchFamily="34" charset="-120"/>
                        </a:rPr>
                        <a:t>Her three biggest pains</a:t>
                      </a:r>
                      <a:endParaRPr lang="en-US" sz="1250" dirty="0">
                        <a:latin typeface="Inter" charset="0"/>
                        <a:ea typeface="Inter" charset="0"/>
                        <a:cs typeface="Inter" charset="0"/>
                      </a:endParaRPr>
                    </a:p>
                  </a:txBody>
                  <a:tcPr marL="152400" marR="152400" marT="165100" marB="1651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750"/>
                        </a:lnSpc>
                        <a:buNone/>
                      </a:pPr>
                      <a:r>
                        <a:rPr lang="en-US" sz="1250" dirty="0">
                          <a:solidFill>
                            <a:srgbClr val="0C0B0A"/>
                          </a:solidFill>
                          <a:latin typeface="Inter" pitchFamily="34" charset="0"/>
                          <a:ea typeface="Inter" pitchFamily="34" charset="-122"/>
                          <a:cs typeface="Inter" pitchFamily="34" charset="-120"/>
                        </a:rPr>
                        <a:t>Taxability</a:t>
                      </a:r>
                      <a:endParaRPr lang="en-US" sz="1250" dirty="0">
                        <a:latin typeface="Inter" charset="0"/>
                        <a:ea typeface="Inter" charset="0"/>
                        <a:cs typeface="Inter" charset="0"/>
                      </a:endParaRPr>
                    </a:p>
                  </a:txBody>
                  <a:tcPr marL="152400" marR="152400" marT="165100" marB="1651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750"/>
                        </a:lnSpc>
                        <a:buNone/>
                      </a:pPr>
                      <a:r>
                        <a:rPr lang="en-US" sz="1250" dirty="0">
                          <a:solidFill>
                            <a:srgbClr val="6B645C"/>
                          </a:solidFill>
                          <a:latin typeface="Inter" pitchFamily="34" charset="0"/>
                          <a:ea typeface="Inter" pitchFamily="34" charset="-122"/>
                          <a:cs typeface="Inter" pitchFamily="34" charset="-120"/>
                        </a:rPr>
                        <a:t>Tax apps</a:t>
                      </a:r>
                      <a:endParaRPr lang="en-US" sz="1250" dirty="0">
                        <a:latin typeface="Inter" charset="0"/>
                        <a:ea typeface="Inter" charset="0"/>
                        <a:cs typeface="Inter" charset="0"/>
                      </a:endParaRPr>
                    </a:p>
                  </a:txBody>
                  <a:tcPr marL="152400" marR="152400" marT="165100" marB="1651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750"/>
                        </a:lnSpc>
                        <a:buNone/>
                      </a:pPr>
                      <a:r>
                        <a:rPr lang="en-US" sz="1250" dirty="0">
                          <a:solidFill>
                            <a:srgbClr val="6B645C"/>
                          </a:solidFill>
                          <a:latin typeface="Inter" pitchFamily="34" charset="0"/>
                          <a:ea typeface="Inter" pitchFamily="34" charset="-122"/>
                          <a:cs typeface="Inter" pitchFamily="34" charset="-120"/>
                        </a:rPr>
                        <a:t>AI chatbots</a:t>
                      </a:r>
                      <a:endParaRPr lang="en-US" sz="1250" dirty="0">
                        <a:latin typeface="Inter" charset="0"/>
                        <a:ea typeface="Inter" charset="0"/>
                        <a:cs typeface="Inter" charset="0"/>
                      </a:endParaRPr>
                    </a:p>
                  </a:txBody>
                  <a:tcPr marL="152400" marR="152400" marT="165100" marB="1651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750"/>
                        </a:lnSpc>
                        <a:buNone/>
                      </a:pPr>
                      <a:r>
                        <a:rPr lang="en-US" sz="1250" dirty="0">
                          <a:solidFill>
                            <a:srgbClr val="6B645C"/>
                          </a:solidFill>
                          <a:latin typeface="Inter" pitchFamily="34" charset="0"/>
                          <a:ea typeface="Inter" pitchFamily="34" charset="-122"/>
                          <a:cs typeface="Inter" pitchFamily="34" charset="-120"/>
                        </a:rPr>
                        <a:t>Advice centres</a:t>
                      </a:r>
                      <a:endParaRPr lang="en-US" sz="1250" dirty="0">
                        <a:latin typeface="Inter" charset="0"/>
                        <a:ea typeface="Inter" charset="0"/>
                        <a:cs typeface="Inter" charset="0"/>
                      </a:endParaRPr>
                    </a:p>
                  </a:txBody>
                  <a:tcPr marL="152400" marR="152400" marT="165100" marB="1651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565150">
                <a:tc>
                  <a:txBody>
                    <a:bodyPr/>
                    <a:lstStyle/>
                    <a:p>
                      <a:pPr indent="0" marL="0">
                        <a:lnSpc>
                          <a:spcPts val="1750"/>
                        </a:lnSpc>
                        <a:buNone/>
                      </a:pPr>
                      <a:r>
                        <a:rPr lang="en-US" sz="1250" dirty="0">
                          <a:solidFill>
                            <a:srgbClr val="0C0B0A"/>
                          </a:solidFill>
                          <a:latin typeface="Inter" pitchFamily="34" charset="0"/>
                          <a:ea typeface="Inter" pitchFamily="34" charset="-122"/>
                          <a:cs typeface="Inter" pitchFamily="34" charset="-120"/>
                        </a:rPr>
                        <a:t>“I can’t read the letters.”</a:t>
                      </a:r>
                      <a:endParaRPr lang="en-US" sz="1250" dirty="0">
                        <a:latin typeface="Inter" charset="0"/>
                        <a:ea typeface="Inter" charset="0"/>
                        <a:cs typeface="Inter" charset="0"/>
                      </a:endParaRPr>
                    </a:p>
                  </a:txBody>
                  <a:tcPr marL="152400" marR="152400" marT="165100" marB="165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750"/>
                        </a:lnSpc>
                        <a:buNone/>
                      </a:pPr>
                      <a:r>
                        <a:rPr lang="en-US" sz="1250" dirty="0">
                          <a:solidFill>
                            <a:srgbClr val="0C0B0A"/>
                          </a:solidFill>
                          <a:latin typeface="Inter" pitchFamily="34" charset="0"/>
                          <a:ea typeface="Inter" pitchFamily="34" charset="-122"/>
                          <a:cs typeface="Inter" pitchFamily="34" charset="-120"/>
                        </a:rPr>
                        <a:t>Her language</a:t>
                      </a:r>
                      <a:endParaRPr lang="en-US" sz="1250" dirty="0">
                        <a:latin typeface="Inter" charset="0"/>
                        <a:ea typeface="Inter" charset="0"/>
                        <a:cs typeface="Inter" charset="0"/>
                      </a:endParaRPr>
                    </a:p>
                  </a:txBody>
                  <a:tcPr marL="152400" marR="152400" marT="165100" marB="165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750"/>
                        </a:lnSpc>
                        <a:buNone/>
                      </a:pPr>
                      <a:r>
                        <a:rPr lang="en-US" sz="1250" dirty="0">
                          <a:solidFill>
                            <a:srgbClr val="9A9288"/>
                          </a:solidFill>
                          <a:latin typeface="Inter" pitchFamily="34" charset="0"/>
                          <a:ea typeface="Inter" pitchFamily="34" charset="-122"/>
                          <a:cs typeface="Inter" pitchFamily="34" charset="-120"/>
                        </a:rPr>
                        <a:t>DE/EN only</a:t>
                      </a:r>
                      <a:endParaRPr lang="en-US" sz="1250" dirty="0">
                        <a:latin typeface="Inter" charset="0"/>
                        <a:ea typeface="Inter" charset="0"/>
                        <a:cs typeface="Inter" charset="0"/>
                      </a:endParaRPr>
                    </a:p>
                  </a:txBody>
                  <a:tcPr marL="152400" marR="152400" marT="165100" marB="165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750"/>
                        </a:lnSpc>
                        <a:buNone/>
                      </a:pPr>
                      <a:r>
                        <a:rPr lang="en-US" sz="1250" dirty="0">
                          <a:solidFill>
                            <a:srgbClr val="9A9288"/>
                          </a:solidFill>
                          <a:latin typeface="Inter" pitchFamily="34" charset="0"/>
                          <a:ea typeface="Inter" pitchFamily="34" charset="-122"/>
                          <a:cs typeface="Inter" pitchFamily="34" charset="-120"/>
                        </a:rPr>
                        <a:t>Generic</a:t>
                      </a:r>
                      <a:endParaRPr lang="en-US" sz="1250" dirty="0">
                        <a:latin typeface="Inter" charset="0"/>
                        <a:ea typeface="Inter" charset="0"/>
                        <a:cs typeface="Inter" charset="0"/>
                      </a:endParaRPr>
                    </a:p>
                  </a:txBody>
                  <a:tcPr marL="152400" marR="152400" marT="165100" marB="165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750"/>
                        </a:lnSpc>
                        <a:buNone/>
                      </a:pPr>
                      <a:r>
                        <a:rPr lang="en-US" sz="1250" dirty="0">
                          <a:solidFill>
                            <a:srgbClr val="9A9288"/>
                          </a:solidFill>
                          <a:latin typeface="Inter" pitchFamily="34" charset="0"/>
                          <a:ea typeface="Inter" pitchFamily="34" charset="-122"/>
                          <a:cs typeface="Inter" pitchFamily="34" charset="-120"/>
                        </a:rPr>
                        <a:t>Partly</a:t>
                      </a:r>
                      <a:endParaRPr lang="en-US" sz="1250" dirty="0">
                        <a:latin typeface="Inter" charset="0"/>
                        <a:ea typeface="Inter" charset="0"/>
                        <a:cs typeface="Inter" charset="0"/>
                      </a:endParaRPr>
                    </a:p>
                  </a:txBody>
                  <a:tcPr marL="152400" marR="152400" marT="165100" marB="165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65150">
                <a:tc>
                  <a:txBody>
                    <a:bodyPr/>
                    <a:lstStyle/>
                    <a:p>
                      <a:pPr indent="0" marL="0">
                        <a:lnSpc>
                          <a:spcPts val="1750"/>
                        </a:lnSpc>
                        <a:buNone/>
                      </a:pPr>
                      <a:r>
                        <a:rPr lang="en-US" sz="1250" dirty="0">
                          <a:solidFill>
                            <a:srgbClr val="0C0B0A"/>
                          </a:solidFill>
                          <a:latin typeface="Inter" pitchFamily="34" charset="0"/>
                          <a:ea typeface="Inter" pitchFamily="34" charset="-122"/>
                          <a:cs typeface="Inter" pitchFamily="34" charset="-120"/>
                        </a:rPr>
                        <a:t>“What are we entitled to?”</a:t>
                      </a:r>
                      <a:endParaRPr lang="en-US" sz="1250" dirty="0">
                        <a:latin typeface="Inter" charset="0"/>
                        <a:ea typeface="Inter" charset="0"/>
                        <a:cs typeface="Inter" charset="0"/>
                      </a:endParaRPr>
                    </a:p>
                  </a:txBody>
                  <a:tcPr marL="152400" marR="152400" marT="165100" marB="165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750"/>
                        </a:lnSpc>
                        <a:buNone/>
                      </a:pPr>
                      <a:r>
                        <a:rPr lang="en-US" sz="1250" dirty="0">
                          <a:solidFill>
                            <a:srgbClr val="0C0B0A"/>
                          </a:solidFill>
                          <a:latin typeface="Inter" pitchFamily="34" charset="0"/>
                          <a:ea typeface="Inter" pitchFamily="34" charset="-122"/>
                          <a:cs typeface="Inter" pitchFamily="34" charset="-120"/>
                        </a:rPr>
                        <a:t>Finds it all</a:t>
                      </a:r>
                      <a:endParaRPr lang="en-US" sz="1250" dirty="0">
                        <a:latin typeface="Inter" charset="0"/>
                        <a:ea typeface="Inter" charset="0"/>
                        <a:cs typeface="Inter" charset="0"/>
                      </a:endParaRPr>
                    </a:p>
                  </a:txBody>
                  <a:tcPr marL="152400" marR="152400" marT="165100" marB="165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750"/>
                        </a:lnSpc>
                        <a:buNone/>
                      </a:pPr>
                      <a:r>
                        <a:rPr lang="en-US" sz="1250" dirty="0">
                          <a:solidFill>
                            <a:srgbClr val="9A9288"/>
                          </a:solidFill>
                          <a:latin typeface="Inter" pitchFamily="34" charset="0"/>
                          <a:ea typeface="Inter" pitchFamily="34" charset="-122"/>
                          <a:cs typeface="Inter" pitchFamily="34" charset="-120"/>
                        </a:rPr>
                        <a:t>Partly</a:t>
                      </a:r>
                      <a:endParaRPr lang="en-US" sz="1250" dirty="0">
                        <a:latin typeface="Inter" charset="0"/>
                        <a:ea typeface="Inter" charset="0"/>
                        <a:cs typeface="Inter" charset="0"/>
                      </a:endParaRPr>
                    </a:p>
                  </a:txBody>
                  <a:tcPr marL="152400" marR="152400" marT="165100" marB="165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750"/>
                        </a:lnSpc>
                        <a:buNone/>
                      </a:pPr>
                      <a:r>
                        <a:rPr lang="en-US" sz="1250" dirty="0">
                          <a:solidFill>
                            <a:srgbClr val="9A9288"/>
                          </a:solidFill>
                          <a:latin typeface="Inter" pitchFamily="34" charset="0"/>
                          <a:ea typeface="Inter" pitchFamily="34" charset="-122"/>
                          <a:cs typeface="Inter" pitchFamily="34" charset="-120"/>
                        </a:rPr>
                        <a:t>No</a:t>
                      </a:r>
                      <a:endParaRPr lang="en-US" sz="1250" dirty="0">
                        <a:latin typeface="Inter" charset="0"/>
                        <a:ea typeface="Inter" charset="0"/>
                        <a:cs typeface="Inter" charset="0"/>
                      </a:endParaRPr>
                    </a:p>
                  </a:txBody>
                  <a:tcPr marL="152400" marR="152400" marT="165100" marB="165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750"/>
                        </a:lnSpc>
                        <a:buNone/>
                      </a:pPr>
                      <a:r>
                        <a:rPr lang="en-US" sz="1250" dirty="0">
                          <a:solidFill>
                            <a:srgbClr val="9A9288"/>
                          </a:solidFill>
                          <a:latin typeface="Inter" pitchFamily="34" charset="0"/>
                          <a:ea typeface="Inter" pitchFamily="34" charset="-122"/>
                          <a:cs typeface="Inter" pitchFamily="34" charset="-120"/>
                        </a:rPr>
                        <a:t>Partly</a:t>
                      </a:r>
                      <a:endParaRPr lang="en-US" sz="1250" dirty="0">
                        <a:latin typeface="Inter" charset="0"/>
                        <a:ea typeface="Inter" charset="0"/>
                        <a:cs typeface="Inter" charset="0"/>
                      </a:endParaRPr>
                    </a:p>
                  </a:txBody>
                  <a:tcPr marL="152400" marR="152400" marT="165100" marB="165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65150">
                <a:tc>
                  <a:txBody>
                    <a:bodyPr/>
                    <a:lstStyle/>
                    <a:p>
                      <a:pPr indent="0" marL="0">
                        <a:lnSpc>
                          <a:spcPts val="1750"/>
                        </a:lnSpc>
                        <a:buNone/>
                      </a:pPr>
                      <a:r>
                        <a:rPr lang="en-US" sz="1250" dirty="0">
                          <a:solidFill>
                            <a:srgbClr val="0C0B0A"/>
                          </a:solidFill>
                          <a:latin typeface="Inter" pitchFamily="34" charset="0"/>
                          <a:ea typeface="Inter" pitchFamily="34" charset="-122"/>
                          <a:cs typeface="Inter" pitchFamily="34" charset="-120"/>
                        </a:rPr>
                        <a:t>“The paperwork never ends.”</a:t>
                      </a:r>
                      <a:endParaRPr lang="en-US" sz="1250" dirty="0">
                        <a:latin typeface="Inter" charset="0"/>
                        <a:ea typeface="Inter" charset="0"/>
                        <a:cs typeface="Inter" charset="0"/>
                      </a:endParaRPr>
                    </a:p>
                  </a:txBody>
                  <a:tcPr marL="152400" marR="152400" marT="165100" marB="165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750"/>
                        </a:lnSpc>
                        <a:buNone/>
                      </a:pPr>
                      <a:r>
                        <a:rPr lang="en-US" sz="1250" dirty="0">
                          <a:solidFill>
                            <a:srgbClr val="0C0B0A"/>
                          </a:solidFill>
                          <a:latin typeface="Inter" pitchFamily="34" charset="0"/>
                          <a:ea typeface="Inter" pitchFamily="34" charset="-122"/>
                          <a:cs typeface="Inter" pitchFamily="34" charset="-120"/>
                        </a:rPr>
                        <a:t>Does it</a:t>
                      </a:r>
                      <a:endParaRPr lang="en-US" sz="1250" dirty="0">
                        <a:latin typeface="Inter" charset="0"/>
                        <a:ea typeface="Inter" charset="0"/>
                        <a:cs typeface="Inter" charset="0"/>
                      </a:endParaRPr>
                    </a:p>
                  </a:txBody>
                  <a:tcPr marL="152400" marR="152400" marT="165100" marB="165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750"/>
                        </a:lnSpc>
                        <a:buNone/>
                      </a:pPr>
                      <a:r>
                        <a:rPr lang="en-US" sz="1250" dirty="0">
                          <a:solidFill>
                            <a:srgbClr val="9A9288"/>
                          </a:solidFill>
                          <a:latin typeface="Inter" pitchFamily="34" charset="0"/>
                          <a:ea typeface="Inter" pitchFamily="34" charset="-122"/>
                          <a:cs typeface="Inter" pitchFamily="34" charset="-120"/>
                        </a:rPr>
                        <a:t>Tax only</a:t>
                      </a:r>
                      <a:endParaRPr lang="en-US" sz="1250" dirty="0">
                        <a:latin typeface="Inter" charset="0"/>
                        <a:ea typeface="Inter" charset="0"/>
                        <a:cs typeface="Inter" charset="0"/>
                      </a:endParaRPr>
                    </a:p>
                  </a:txBody>
                  <a:tcPr marL="152400" marR="152400" marT="165100" marB="165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750"/>
                        </a:lnSpc>
                        <a:buNone/>
                      </a:pPr>
                      <a:r>
                        <a:rPr lang="en-US" sz="1250" dirty="0">
                          <a:solidFill>
                            <a:srgbClr val="9A9288"/>
                          </a:solidFill>
                          <a:latin typeface="Inter" pitchFamily="34" charset="0"/>
                          <a:ea typeface="Inter" pitchFamily="34" charset="-122"/>
                          <a:cs typeface="Inter" pitchFamily="34" charset="-120"/>
                        </a:rPr>
                        <a:t>No</a:t>
                      </a:r>
                      <a:endParaRPr lang="en-US" sz="1250" dirty="0">
                        <a:latin typeface="Inter" charset="0"/>
                        <a:ea typeface="Inter" charset="0"/>
                        <a:cs typeface="Inter" charset="0"/>
                      </a:endParaRPr>
                    </a:p>
                  </a:txBody>
                  <a:tcPr marL="152400" marR="152400" marT="165100" marB="165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750"/>
                        </a:lnSpc>
                        <a:buNone/>
                      </a:pPr>
                      <a:r>
                        <a:rPr lang="en-US" sz="1250" dirty="0">
                          <a:solidFill>
                            <a:srgbClr val="9A9288"/>
                          </a:solidFill>
                          <a:latin typeface="Inter" pitchFamily="34" charset="0"/>
                          <a:ea typeface="Inter" pitchFamily="34" charset="-122"/>
                          <a:cs typeface="Inter" pitchFamily="34" charset="-120"/>
                        </a:rPr>
                        <a:t>Partly</a:t>
                      </a:r>
                      <a:endParaRPr lang="en-US" sz="1250" dirty="0">
                        <a:latin typeface="Inter" charset="0"/>
                        <a:ea typeface="Inter" charset="0"/>
                        <a:cs typeface="Inter" charset="0"/>
                      </a:endParaRPr>
                    </a:p>
                  </a:txBody>
                  <a:tcPr marL="152400" marR="152400" marT="165100" marB="165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5944890"/>
            <a:ext cx="10883392" cy="176510"/>
          </a:xfrm>
          <a:prstGeom prst="rect">
            <a:avLst/>
          </a:prstGeom>
          <a:noFill/>
          <a:ln/>
        </p:spPr>
        <p:txBody>
          <a:bodyPr wrap="square" lIns="0" tIns="0" rIns="0" bIns="0" rtlCol="0" anchor="t">
            <a:normAutofit/>
          </a:bodyPr>
          <a:lstStyle/>
          <a:p>
            <a:pPr algn="l" indent="0" marL="0">
              <a:lnSpc>
                <a:spcPts val="1190"/>
              </a:lnSpc>
              <a:buNone/>
            </a:pPr>
            <a:r>
              <a:rPr lang="en-US" sz="850" dirty="0">
                <a:solidFill>
                  <a:srgbClr val="6B645C"/>
                </a:solidFill>
                <a:latin typeface="Inter" pitchFamily="34" charset="0"/>
                <a:ea typeface="Inter" pitchFamily="34" charset="-122"/>
                <a:cs typeface="Inter" pitchFamily="34" charset="-120"/>
              </a:rPr>
              <a:t>AI tax explainers already exist: WISO SteuerGPT, ChatGPT and Taxfix’s reported AI agent. None is built for Lisa.</a:t>
            </a:r>
            <a:endParaRPr lang="en-US" sz="850" dirty="0"/>
          </a:p>
        </p:txBody>
      </p:sp>
      <p:sp>
        <p:nvSpPr>
          <p:cNvPr id="7" name="Text 4"/>
          <p:cNvSpPr/>
          <p:nvPr/>
        </p:nvSpPr>
        <p:spPr>
          <a:xfrm>
            <a:off x="812800" y="6394450"/>
            <a:ext cx="3924300" cy="133350"/>
          </a:xfrm>
          <a:prstGeom prst="rect">
            <a:avLst/>
          </a:prstGeom>
          <a:noFill/>
          <a:ln/>
        </p:spPr>
        <p:txBody>
          <a:bodyPr wrap="square" lIns="0" tIns="0" rIns="0" bIns="0" rtlCol="0" anchor="t">
            <a:normAutofit/>
          </a:bodyPr>
          <a:lstStyle/>
          <a:p>
            <a:pPr algn="l" indent="0" marL="0">
              <a:lnSpc>
                <a:spcPts val="850"/>
              </a:lnSpc>
              <a:buNone/>
            </a:pPr>
            <a:r>
              <a:rPr lang="en-US" sz="850" b="1" spc="15" kern="0" dirty="0">
                <a:solidFill>
                  <a:srgbClr val="0C0B0A"/>
                </a:solidFill>
                <a:latin typeface="Inter" pitchFamily="34" charset="0"/>
                <a:ea typeface="Inter" pitchFamily="34" charset="-122"/>
                <a:cs typeface="Inter" pitchFamily="34" charset="-120"/>
              </a:rPr>
              <a:t>Taxability</a:t>
            </a:r>
            <a:endParaRPr lang="en-US" sz="850" dirty="0"/>
          </a:p>
        </p:txBody>
      </p:sp>
      <p:sp>
        <p:nvSpPr>
          <p:cNvPr id="8" name="Text 5"/>
          <p:cNvSpPr/>
          <p:nvPr/>
        </p:nvSpPr>
        <p:spPr>
          <a:xfrm>
            <a:off x="10058400" y="6394450"/>
            <a:ext cx="1320800" cy="133350"/>
          </a:xfrm>
          <a:prstGeom prst="rect">
            <a:avLst/>
          </a:prstGeom>
          <a:noFill/>
          <a:ln/>
        </p:spPr>
        <p:txBody>
          <a:bodyPr wrap="square" lIns="0" tIns="0" rIns="0" bIns="0" rtlCol="0" anchor="t">
            <a:normAutofit/>
          </a:bodyPr>
          <a:lstStyle/>
          <a:p>
            <a:pPr algn="r" indent="0" marL="0">
              <a:lnSpc>
                <a:spcPts val="850"/>
              </a:lnSpc>
              <a:buNone/>
            </a:pPr>
            <a:r>
              <a:rPr lang="en-US" sz="850" spc="15" kern="0" dirty="0">
                <a:solidFill>
                  <a:srgbClr val="6B645C"/>
                </a:solidFill>
                <a:latin typeface="Inter" pitchFamily="34" charset="0"/>
                <a:ea typeface="Inter" pitchFamily="34" charset="-122"/>
                <a:cs typeface="Inter"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8F2"/>
        </a:solidFill>
      </p:bgPr>
    </p:bg>
    <p:spTree>
      <p:nvGrpSpPr>
        <p:cNvPr id="1" name=""/>
        <p:cNvGrpSpPr/>
        <p:nvPr/>
      </p:nvGrpSpPr>
      <p:grpSpPr>
        <a:xfrm>
          <a:off x="0" y="0"/>
          <a:ext cx="0" cy="0"/>
          <a:chOff x="0" y="0"/>
          <a:chExt cx="0" cy="0"/>
        </a:xfrm>
      </p:grpSpPr>
      <p:sp>
        <p:nvSpPr>
          <p:cNvPr id="2" name="Text 0"/>
          <p:cNvSpPr/>
          <p:nvPr/>
        </p:nvSpPr>
        <p:spPr>
          <a:xfrm>
            <a:off x="812800" y="812800"/>
            <a:ext cx="6540500" cy="146050"/>
          </a:xfrm>
          <a:prstGeom prst="rect">
            <a:avLst/>
          </a:prstGeom>
          <a:noFill/>
          <a:ln/>
        </p:spPr>
        <p:txBody>
          <a:bodyPr wrap="square" lIns="0" tIns="0" rIns="0" bIns="0" rtlCol="0" anchor="t">
            <a:normAutofit/>
          </a:bodyPr>
          <a:lstStyle/>
          <a:p>
            <a:pPr algn="l" indent="0" marL="0">
              <a:lnSpc>
                <a:spcPts val="950"/>
              </a:lnSpc>
              <a:buNone/>
            </a:pPr>
            <a:r>
              <a:rPr lang="en-US" sz="950" b="1" spc="20" kern="0" dirty="0">
                <a:solidFill>
                  <a:srgbClr val="0C0B0A"/>
                </a:solidFill>
                <a:latin typeface="Inter" pitchFamily="34" charset="0"/>
                <a:ea typeface="Inter" pitchFamily="34" charset="-122"/>
                <a:cs typeface="Inter" pitchFamily="34" charset="-120"/>
              </a:rPr>
              <a:t>06</a:t>
            </a:r>
            <a:r>
              <a:rPr lang="en-US" sz="950" spc="20" kern="0" dirty="0">
                <a:solidFill>
                  <a:srgbClr val="6B645C"/>
                </a:solidFill>
                <a:latin typeface="Inter" pitchFamily="34" charset="0"/>
                <a:ea typeface="Inter" pitchFamily="34" charset="-122"/>
                <a:cs typeface="Inter" pitchFamily="34" charset="-120"/>
              </a:rPr>
              <a:t>   Go-to-market</a:t>
            </a:r>
            <a:endParaRPr lang="en-US" sz="950" dirty="0"/>
          </a:p>
        </p:txBody>
      </p:sp>
      <p:sp>
        <p:nvSpPr>
          <p:cNvPr id="3" name="Text 1"/>
          <p:cNvSpPr/>
          <p:nvPr>
            <p:ph type="title"/>
          </p:nvPr>
        </p:nvSpPr>
        <p:spPr>
          <a:xfrm>
            <a:off x="812800" y="1270000"/>
            <a:ext cx="8502650" cy="1244600"/>
          </a:xfrm>
          <a:prstGeom prst="rect">
            <a:avLst/>
          </a:prstGeom>
          <a:noFill/>
          <a:ln/>
        </p:spPr>
        <p:txBody>
          <a:bodyPr wrap="square" lIns="0" tIns="0" rIns="0" bIns="0" rtlCol="0" anchor="t">
            <a:normAutofit/>
          </a:bodyPr>
          <a:lstStyle/>
          <a:p>
            <a:pPr algn="l" indent="0" marL="0">
              <a:lnSpc>
                <a:spcPts val="4800"/>
              </a:lnSpc>
              <a:buNone/>
            </a:pPr>
            <a:r>
              <a:rPr lang="en-US" sz="5000" b="1" i="0" spc="-60" kern="0" dirty="0">
                <a:solidFill>
                  <a:srgbClr val="0C0B0A"/>
                </a:solidFill>
                <a:latin typeface="Barlow Condensed" pitchFamily="34" charset="0"/>
                <a:ea typeface="Barlow Condensed" pitchFamily="34" charset="-122"/>
                <a:cs typeface="Barlow Condensed" pitchFamily="34" charset="-120"/>
              </a:rPr>
              <a:t>We reach Lisa through people she already trusts</a:t>
            </a:r>
            <a:endParaRPr lang="en-US" sz="5000" dirty="0"/>
          </a:p>
        </p:txBody>
      </p:sp>
      <p:sp>
        <p:nvSpPr>
          <p:cNvPr id="4" name="Shape 2"/>
          <p:cNvSpPr/>
          <p:nvPr/>
        </p:nvSpPr>
        <p:spPr>
          <a:xfrm>
            <a:off x="812800" y="3560763"/>
            <a:ext cx="3285034" cy="0"/>
          </a:xfrm>
          <a:prstGeom prst="line">
            <a:avLst/>
          </a:prstGeom>
          <a:noFill/>
          <a:ln w="9525">
            <a:solidFill>
              <a:srgbClr val="0C0B0A">
                <a:alpha val="16000"/>
              </a:srgbClr>
            </a:solidFill>
            <a:prstDash val="solid"/>
          </a:ln>
        </p:spPr>
      </p:sp>
      <p:sp>
        <p:nvSpPr>
          <p:cNvPr id="5" name="Text 3"/>
          <p:cNvSpPr/>
          <p:nvPr/>
        </p:nvSpPr>
        <p:spPr>
          <a:xfrm>
            <a:off x="812800" y="3794125"/>
            <a:ext cx="3383585" cy="431800"/>
          </a:xfrm>
          <a:prstGeom prst="rect">
            <a:avLst/>
          </a:prstGeom>
          <a:noFill/>
          <a:ln/>
        </p:spPr>
        <p:txBody>
          <a:bodyPr wrap="square" lIns="0" tIns="0" rIns="0" bIns="0" rtlCol="0" anchor="t">
            <a:normAutofit/>
          </a:bodyPr>
          <a:lstStyle/>
          <a:p>
            <a:pPr algn="l" indent="0" marL="0">
              <a:lnSpc>
                <a:spcPts val="3200"/>
              </a:lnSpc>
              <a:buNone/>
            </a:pPr>
            <a:r>
              <a:rPr lang="en-US" sz="3200" b="1" spc="-15" kern="0" dirty="0">
                <a:solidFill>
                  <a:srgbClr val="9A9288"/>
                </a:solidFill>
                <a:latin typeface="Barlow Condensed" pitchFamily="34" charset="0"/>
                <a:ea typeface="Barlow Condensed" pitchFamily="34" charset="-122"/>
                <a:cs typeface="Barlow Condensed" pitchFamily="34" charset="-120"/>
              </a:rPr>
              <a:t>01</a:t>
            </a:r>
            <a:endParaRPr lang="en-US" sz="3200" dirty="0"/>
          </a:p>
        </p:txBody>
      </p:sp>
      <p:sp>
        <p:nvSpPr>
          <p:cNvPr id="6" name="Text 4"/>
          <p:cNvSpPr/>
          <p:nvPr/>
        </p:nvSpPr>
        <p:spPr>
          <a:xfrm>
            <a:off x="812800" y="4378325"/>
            <a:ext cx="3383585" cy="269230"/>
          </a:xfrm>
          <a:prstGeom prst="rect">
            <a:avLst/>
          </a:prstGeom>
          <a:noFill/>
          <a:ln/>
        </p:spPr>
        <p:txBody>
          <a:bodyPr wrap="square" lIns="0" tIns="0" rIns="0" bIns="0" rtlCol="0" anchor="t">
            <a:normAutofit/>
          </a:bodyPr>
          <a:lstStyle/>
          <a:p>
            <a:pPr algn="l"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Trusted advisers</a:t>
            </a:r>
            <a:endParaRPr lang="en-US" sz="1600" dirty="0"/>
          </a:p>
        </p:txBody>
      </p:sp>
      <p:sp>
        <p:nvSpPr>
          <p:cNvPr id="7" name="Text 5"/>
          <p:cNvSpPr/>
          <p:nvPr/>
        </p:nvSpPr>
        <p:spPr>
          <a:xfrm>
            <a:off x="812800" y="4698355"/>
            <a:ext cx="3383585" cy="73977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6B645C"/>
                </a:solidFill>
                <a:latin typeface="Inter" pitchFamily="34" charset="0"/>
                <a:ea typeface="Inter" pitchFamily="34" charset="-122"/>
                <a:cs typeface="Inter" pitchFamily="34" charset="-120"/>
              </a:rPr>
              <a:t>SPZ paediatric centres, Sputnik, MBE migration advice (922), EUTB (800+), VAMV</a:t>
            </a:r>
            <a:endParaRPr lang="en-US" sz="1250" dirty="0"/>
          </a:p>
        </p:txBody>
      </p:sp>
      <p:sp>
        <p:nvSpPr>
          <p:cNvPr id="8" name="Shape 6"/>
          <p:cNvSpPr/>
          <p:nvPr/>
        </p:nvSpPr>
        <p:spPr>
          <a:xfrm>
            <a:off x="4453434" y="3560763"/>
            <a:ext cx="3285083" cy="0"/>
          </a:xfrm>
          <a:prstGeom prst="line">
            <a:avLst/>
          </a:prstGeom>
          <a:noFill/>
          <a:ln w="9525">
            <a:solidFill>
              <a:srgbClr val="0C0B0A">
                <a:alpha val="16000"/>
              </a:srgbClr>
            </a:solidFill>
            <a:prstDash val="solid"/>
          </a:ln>
        </p:spPr>
      </p:sp>
      <p:sp>
        <p:nvSpPr>
          <p:cNvPr id="9" name="Text 7"/>
          <p:cNvSpPr/>
          <p:nvPr/>
        </p:nvSpPr>
        <p:spPr>
          <a:xfrm>
            <a:off x="4453434" y="3794125"/>
            <a:ext cx="3383636" cy="431800"/>
          </a:xfrm>
          <a:prstGeom prst="rect">
            <a:avLst/>
          </a:prstGeom>
          <a:noFill/>
          <a:ln/>
        </p:spPr>
        <p:txBody>
          <a:bodyPr wrap="square" lIns="0" tIns="0" rIns="0" bIns="0" rtlCol="0" anchor="t">
            <a:normAutofit/>
          </a:bodyPr>
          <a:lstStyle/>
          <a:p>
            <a:pPr algn="l" indent="0" marL="0">
              <a:lnSpc>
                <a:spcPts val="3200"/>
              </a:lnSpc>
              <a:buNone/>
            </a:pPr>
            <a:r>
              <a:rPr lang="en-US" sz="3200" b="1" spc="-15" kern="0" dirty="0">
                <a:solidFill>
                  <a:srgbClr val="9A9288"/>
                </a:solidFill>
                <a:latin typeface="Barlow Condensed" pitchFamily="34" charset="0"/>
                <a:ea typeface="Barlow Condensed" pitchFamily="34" charset="-122"/>
                <a:cs typeface="Barlow Condensed" pitchFamily="34" charset="-120"/>
              </a:rPr>
              <a:t>02</a:t>
            </a:r>
            <a:endParaRPr lang="en-US" sz="3200" dirty="0"/>
          </a:p>
        </p:txBody>
      </p:sp>
      <p:sp>
        <p:nvSpPr>
          <p:cNvPr id="10" name="Text 8"/>
          <p:cNvSpPr/>
          <p:nvPr/>
        </p:nvSpPr>
        <p:spPr>
          <a:xfrm>
            <a:off x="4453434" y="4378325"/>
            <a:ext cx="3383636" cy="269230"/>
          </a:xfrm>
          <a:prstGeom prst="rect">
            <a:avLst/>
          </a:prstGeom>
          <a:noFill/>
          <a:ln/>
        </p:spPr>
        <p:txBody>
          <a:bodyPr wrap="square" lIns="0" tIns="0" rIns="0" bIns="0" rtlCol="0" anchor="t">
            <a:normAutofit/>
          </a:bodyPr>
          <a:lstStyle/>
          <a:p>
            <a:pPr algn="l"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When she files</a:t>
            </a:r>
            <a:endParaRPr lang="en-US" sz="1600" dirty="0"/>
          </a:p>
        </p:txBody>
      </p:sp>
      <p:sp>
        <p:nvSpPr>
          <p:cNvPr id="11" name="Text 9"/>
          <p:cNvSpPr/>
          <p:nvPr/>
        </p:nvSpPr>
        <p:spPr>
          <a:xfrm>
            <a:off x="4453434" y="4698355"/>
            <a:ext cx="3383636" cy="501650"/>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6B645C"/>
                </a:solidFill>
                <a:latin typeface="Inter" pitchFamily="34" charset="0"/>
                <a:ea typeface="Inter" pitchFamily="34" charset="-122"/>
                <a:cs typeface="Inter" pitchFamily="34" charset="-120"/>
              </a:rPr>
              <a:t>A link or promo code on the Taxfix result screen, like its N26 offer</a:t>
            </a:r>
            <a:endParaRPr lang="en-US" sz="1250" dirty="0"/>
          </a:p>
        </p:txBody>
      </p:sp>
      <p:sp>
        <p:nvSpPr>
          <p:cNvPr id="12" name="Shape 10"/>
          <p:cNvSpPr/>
          <p:nvPr/>
        </p:nvSpPr>
        <p:spPr>
          <a:xfrm>
            <a:off x="8094117" y="3560763"/>
            <a:ext cx="3285034" cy="0"/>
          </a:xfrm>
          <a:prstGeom prst="line">
            <a:avLst/>
          </a:prstGeom>
          <a:noFill/>
          <a:ln w="9525">
            <a:solidFill>
              <a:srgbClr val="0C0B0A">
                <a:alpha val="16000"/>
              </a:srgbClr>
            </a:solidFill>
            <a:prstDash val="solid"/>
          </a:ln>
        </p:spPr>
      </p:sp>
      <p:sp>
        <p:nvSpPr>
          <p:cNvPr id="13" name="Text 11"/>
          <p:cNvSpPr/>
          <p:nvPr/>
        </p:nvSpPr>
        <p:spPr>
          <a:xfrm>
            <a:off x="8094117" y="3794125"/>
            <a:ext cx="3383585" cy="431800"/>
          </a:xfrm>
          <a:prstGeom prst="rect">
            <a:avLst/>
          </a:prstGeom>
          <a:noFill/>
          <a:ln/>
        </p:spPr>
        <p:txBody>
          <a:bodyPr wrap="square" lIns="0" tIns="0" rIns="0" bIns="0" rtlCol="0" anchor="t">
            <a:normAutofit/>
          </a:bodyPr>
          <a:lstStyle/>
          <a:p>
            <a:pPr algn="l" indent="0" marL="0">
              <a:lnSpc>
                <a:spcPts val="3200"/>
              </a:lnSpc>
              <a:buNone/>
            </a:pPr>
            <a:r>
              <a:rPr lang="en-US" sz="3200" b="1" spc="-15" kern="0" dirty="0">
                <a:solidFill>
                  <a:srgbClr val="9A9288"/>
                </a:solidFill>
                <a:latin typeface="Barlow Condensed" pitchFamily="34" charset="0"/>
                <a:ea typeface="Barlow Condensed" pitchFamily="34" charset="-122"/>
                <a:cs typeface="Barlow Condensed" pitchFamily="34" charset="-120"/>
              </a:rPr>
              <a:t>03</a:t>
            </a:r>
            <a:endParaRPr lang="en-US" sz="3200" dirty="0"/>
          </a:p>
        </p:txBody>
      </p:sp>
      <p:sp>
        <p:nvSpPr>
          <p:cNvPr id="14" name="Text 12"/>
          <p:cNvSpPr/>
          <p:nvPr/>
        </p:nvSpPr>
        <p:spPr>
          <a:xfrm>
            <a:off x="8094117" y="4378325"/>
            <a:ext cx="3383585" cy="269230"/>
          </a:xfrm>
          <a:prstGeom prst="rect">
            <a:avLst/>
          </a:prstGeom>
          <a:noFill/>
          <a:ln/>
        </p:spPr>
        <p:txBody>
          <a:bodyPr wrap="square" lIns="0" tIns="0" rIns="0" bIns="0" rtlCol="0" anchor="t">
            <a:normAutofit/>
          </a:bodyPr>
          <a:lstStyle/>
          <a:p>
            <a:pPr algn="l"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Later</a:t>
            </a:r>
            <a:endParaRPr lang="en-US" sz="1600" dirty="0"/>
          </a:p>
        </p:txBody>
      </p:sp>
      <p:sp>
        <p:nvSpPr>
          <p:cNvPr id="15" name="Text 13"/>
          <p:cNvSpPr/>
          <p:nvPr/>
        </p:nvSpPr>
        <p:spPr>
          <a:xfrm>
            <a:off x="8094117" y="4698355"/>
            <a:ext cx="3383585" cy="501650"/>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6B645C"/>
                </a:solidFill>
                <a:latin typeface="Inter" pitchFamily="34" charset="0"/>
                <a:ea typeface="Inter" pitchFamily="34" charset="-122"/>
                <a:cs typeface="Inter" pitchFamily="34" charset="-120"/>
              </a:rPr>
              <a:t>Question cards inside Taxfix, once the pilot numbers prove it works</a:t>
            </a:r>
            <a:endParaRPr lang="en-US" sz="1250" dirty="0"/>
          </a:p>
        </p:txBody>
      </p:sp>
      <p:sp>
        <p:nvSpPr>
          <p:cNvPr id="16" name="Text 14"/>
          <p:cNvSpPr/>
          <p:nvPr/>
        </p:nvSpPr>
        <p:spPr>
          <a:xfrm>
            <a:off x="812800" y="5944890"/>
            <a:ext cx="10883392" cy="176510"/>
          </a:xfrm>
          <a:prstGeom prst="rect">
            <a:avLst/>
          </a:prstGeom>
          <a:noFill/>
          <a:ln/>
        </p:spPr>
        <p:txBody>
          <a:bodyPr wrap="square" lIns="0" tIns="0" rIns="0" bIns="0" rtlCol="0" anchor="t">
            <a:normAutofit/>
          </a:bodyPr>
          <a:lstStyle/>
          <a:p>
            <a:pPr algn="l" indent="0" marL="0">
              <a:lnSpc>
                <a:spcPts val="1190"/>
              </a:lnSpc>
              <a:buNone/>
            </a:pPr>
            <a:r>
              <a:rPr lang="en-US" sz="850" dirty="0">
                <a:solidFill>
                  <a:srgbClr val="6B645C"/>
                </a:solidFill>
                <a:latin typeface="Inter" pitchFamily="34" charset="0"/>
                <a:ea typeface="Inter" pitchFamily="34" charset="-122"/>
                <a:cs typeface="Inter" pitchFamily="34" charset="-120"/>
              </a:rPr>
              <a:t>The partner pays, not the parent. We never hold her money. Planned routes, no commitments yet.</a:t>
            </a:r>
            <a:endParaRPr lang="en-US" sz="850" dirty="0"/>
          </a:p>
        </p:txBody>
      </p:sp>
      <p:sp>
        <p:nvSpPr>
          <p:cNvPr id="17" name="Text 15"/>
          <p:cNvSpPr/>
          <p:nvPr/>
        </p:nvSpPr>
        <p:spPr>
          <a:xfrm>
            <a:off x="812800" y="6394450"/>
            <a:ext cx="3924300" cy="133350"/>
          </a:xfrm>
          <a:prstGeom prst="rect">
            <a:avLst/>
          </a:prstGeom>
          <a:noFill/>
          <a:ln/>
        </p:spPr>
        <p:txBody>
          <a:bodyPr wrap="square" lIns="0" tIns="0" rIns="0" bIns="0" rtlCol="0" anchor="t">
            <a:normAutofit/>
          </a:bodyPr>
          <a:lstStyle/>
          <a:p>
            <a:pPr algn="l" indent="0" marL="0">
              <a:lnSpc>
                <a:spcPts val="850"/>
              </a:lnSpc>
              <a:buNone/>
            </a:pPr>
            <a:r>
              <a:rPr lang="en-US" sz="850" b="1" spc="15" kern="0" dirty="0">
                <a:solidFill>
                  <a:srgbClr val="0C0B0A"/>
                </a:solidFill>
                <a:latin typeface="Inter" pitchFamily="34" charset="0"/>
                <a:ea typeface="Inter" pitchFamily="34" charset="-122"/>
                <a:cs typeface="Inter" pitchFamily="34" charset="-120"/>
              </a:rPr>
              <a:t>Taxability</a:t>
            </a:r>
            <a:endParaRPr lang="en-US" sz="850" dirty="0"/>
          </a:p>
        </p:txBody>
      </p:sp>
      <p:sp>
        <p:nvSpPr>
          <p:cNvPr id="18" name="Text 16"/>
          <p:cNvSpPr/>
          <p:nvPr/>
        </p:nvSpPr>
        <p:spPr>
          <a:xfrm>
            <a:off x="10058400" y="6394450"/>
            <a:ext cx="1320800" cy="133350"/>
          </a:xfrm>
          <a:prstGeom prst="rect">
            <a:avLst/>
          </a:prstGeom>
          <a:noFill/>
          <a:ln/>
        </p:spPr>
        <p:txBody>
          <a:bodyPr wrap="square" lIns="0" tIns="0" rIns="0" bIns="0" rtlCol="0" anchor="t">
            <a:normAutofit/>
          </a:bodyPr>
          <a:lstStyle/>
          <a:p>
            <a:pPr algn="r" indent="0" marL="0">
              <a:lnSpc>
                <a:spcPts val="850"/>
              </a:lnSpc>
              <a:buNone/>
            </a:pPr>
            <a:r>
              <a:rPr lang="en-US" sz="850" spc="15" kern="0" dirty="0">
                <a:solidFill>
                  <a:srgbClr val="6B645C"/>
                </a:solidFill>
                <a:latin typeface="Inter" pitchFamily="34" charset="0"/>
                <a:ea typeface="Inter" pitchFamily="34" charset="-122"/>
                <a:cs typeface="Inter"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8F2"/>
        </a:solidFill>
      </p:bgPr>
    </p:bg>
    <p:spTree>
      <p:nvGrpSpPr>
        <p:cNvPr id="1" name=""/>
        <p:cNvGrpSpPr/>
        <p:nvPr/>
      </p:nvGrpSpPr>
      <p:grpSpPr>
        <a:xfrm>
          <a:off x="0" y="0"/>
          <a:ext cx="0" cy="0"/>
          <a:chOff x="0" y="0"/>
          <a:chExt cx="0" cy="0"/>
        </a:xfrm>
      </p:grpSpPr>
      <p:sp>
        <p:nvSpPr>
          <p:cNvPr id="2" name="Text 0"/>
          <p:cNvSpPr/>
          <p:nvPr/>
        </p:nvSpPr>
        <p:spPr>
          <a:xfrm>
            <a:off x="812800" y="812800"/>
            <a:ext cx="6540500" cy="146050"/>
          </a:xfrm>
          <a:prstGeom prst="rect">
            <a:avLst/>
          </a:prstGeom>
          <a:noFill/>
          <a:ln/>
        </p:spPr>
        <p:txBody>
          <a:bodyPr wrap="square" lIns="0" tIns="0" rIns="0" bIns="0" rtlCol="0" anchor="t">
            <a:normAutofit/>
          </a:bodyPr>
          <a:lstStyle/>
          <a:p>
            <a:pPr algn="l" indent="0" marL="0">
              <a:lnSpc>
                <a:spcPts val="950"/>
              </a:lnSpc>
              <a:buNone/>
            </a:pPr>
            <a:r>
              <a:rPr lang="en-US" sz="950" b="1" spc="20" kern="0" dirty="0">
                <a:solidFill>
                  <a:srgbClr val="0C0B0A"/>
                </a:solidFill>
                <a:latin typeface="Inter" pitchFamily="34" charset="0"/>
                <a:ea typeface="Inter" pitchFamily="34" charset="-122"/>
                <a:cs typeface="Inter" pitchFamily="34" charset="-120"/>
              </a:rPr>
              <a:t>07</a:t>
            </a:r>
            <a:r>
              <a:rPr lang="en-US" sz="950" spc="20" kern="0" dirty="0">
                <a:solidFill>
                  <a:srgbClr val="6B645C"/>
                </a:solidFill>
                <a:latin typeface="Inter" pitchFamily="34" charset="0"/>
                <a:ea typeface="Inter" pitchFamily="34" charset="-122"/>
                <a:cs typeface="Inter" pitchFamily="34" charset="-120"/>
              </a:rPr>
              <a:t>   The team · 5 o’Claude</a:t>
            </a:r>
            <a:endParaRPr lang="en-US" sz="950" dirty="0"/>
          </a:p>
        </p:txBody>
      </p:sp>
      <p:sp>
        <p:nvSpPr>
          <p:cNvPr id="3" name="Text 1"/>
          <p:cNvSpPr/>
          <p:nvPr>
            <p:ph type="title"/>
          </p:nvPr>
        </p:nvSpPr>
        <p:spPr>
          <a:xfrm>
            <a:off x="812800" y="1270000"/>
            <a:ext cx="8502650" cy="1244600"/>
          </a:xfrm>
          <a:prstGeom prst="rect">
            <a:avLst/>
          </a:prstGeom>
          <a:noFill/>
          <a:ln/>
        </p:spPr>
        <p:txBody>
          <a:bodyPr wrap="square" lIns="0" tIns="0" rIns="0" bIns="0" rtlCol="0" anchor="t">
            <a:normAutofit/>
          </a:bodyPr>
          <a:lstStyle/>
          <a:p>
            <a:pPr algn="l" indent="0" marL="0">
              <a:lnSpc>
                <a:spcPts val="4800"/>
              </a:lnSpc>
              <a:buNone/>
            </a:pPr>
            <a:r>
              <a:rPr lang="en-US" sz="5000" b="1" i="0" spc="-60" kern="0" dirty="0">
                <a:solidFill>
                  <a:srgbClr val="0C0B0A"/>
                </a:solidFill>
                <a:latin typeface="Barlow Condensed" pitchFamily="34" charset="0"/>
                <a:ea typeface="Barlow Condensed" pitchFamily="34" charset="-122"/>
                <a:cs typeface="Barlow Condensed" pitchFamily="34" charset="-120"/>
              </a:rPr>
              <a:t>Builders, design and lived experience</a:t>
            </a:r>
            <a:endParaRPr lang="en-US" sz="5000" dirty="0"/>
          </a:p>
        </p:txBody>
      </p:sp>
      <p:sp>
        <p:nvSpPr>
          <p:cNvPr id="4" name="Shape 2"/>
          <p:cNvSpPr/>
          <p:nvPr/>
        </p:nvSpPr>
        <p:spPr>
          <a:xfrm>
            <a:off x="812800" y="2798763"/>
            <a:ext cx="1910060" cy="0"/>
          </a:xfrm>
          <a:prstGeom prst="line">
            <a:avLst/>
          </a:prstGeom>
          <a:noFill/>
          <a:ln w="9525">
            <a:solidFill>
              <a:srgbClr val="0C0B0A"/>
            </a:solidFill>
            <a:prstDash val="solid"/>
          </a:ln>
        </p:spPr>
      </p:sp>
      <p:pic>
        <p:nvPicPr>
          <p:cNvPr id="5" name="Image 0" descr="Julia Armenat">    </p:cNvPr>
          <p:cNvPicPr>
            <a:picLocks noChangeAspect="1"/>
          </p:cNvPicPr>
          <p:nvPr/>
        </p:nvPicPr>
        <p:blipFill>
          <a:blip r:embed="rId1"/>
          <a:srcRect l="0" r="0" t="0" b="0"/>
          <a:stretch/>
        </p:blipFill>
        <p:spPr>
          <a:xfrm>
            <a:off x="812800" y="3032125"/>
            <a:ext cx="660400" cy="660400"/>
          </a:xfrm>
          <a:prstGeom prst="ellipse">
            <a:avLst/>
          </a:prstGeom>
        </p:spPr>
      </p:pic>
      <p:sp>
        <p:nvSpPr>
          <p:cNvPr id="6" name="Text 3"/>
          <p:cNvSpPr/>
          <p:nvPr/>
        </p:nvSpPr>
        <p:spPr>
          <a:xfrm>
            <a:off x="812800" y="3819525"/>
            <a:ext cx="1967362" cy="520700"/>
          </a:xfrm>
          <a:prstGeom prst="rect">
            <a:avLst/>
          </a:prstGeom>
          <a:noFill/>
          <a:ln/>
        </p:spPr>
        <p:txBody>
          <a:bodyPr wrap="square" lIns="0" tIns="0" rIns="0" bIns="0" rtlCol="0" anchor="t">
            <a:normAutofit/>
          </a:bodyPr>
          <a:lstStyle/>
          <a:p>
            <a:pPr algn="l"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Julia Armenat</a:t>
            </a:r>
            <a:endParaRPr lang="en-US" sz="1600" dirty="0"/>
          </a:p>
        </p:txBody>
      </p:sp>
      <p:sp>
        <p:nvSpPr>
          <p:cNvPr id="7" name="Text 4"/>
          <p:cNvSpPr/>
          <p:nvPr/>
        </p:nvSpPr>
        <p:spPr>
          <a:xfrm>
            <a:off x="812800" y="4365625"/>
            <a:ext cx="1967362" cy="194270"/>
          </a:xfrm>
          <a:prstGeom prst="rect">
            <a:avLst/>
          </a:prstGeom>
          <a:noFill/>
          <a:ln/>
        </p:spPr>
        <p:txBody>
          <a:bodyPr wrap="square" lIns="0" tIns="0" rIns="0" bIns="0" rtlCol="0" anchor="t">
            <a:normAutofit/>
          </a:bodyPr>
          <a:lstStyle/>
          <a:p>
            <a:pPr algn="l" indent="0" marL="0">
              <a:lnSpc>
                <a:spcPts val="1330"/>
              </a:lnSpc>
              <a:buNone/>
            </a:pPr>
            <a:r>
              <a:rPr lang="en-US" sz="950" b="1" spc="20" kern="0" dirty="0">
                <a:solidFill>
                  <a:srgbClr val="0C0B0A"/>
                </a:solidFill>
                <a:latin typeface="Inter" pitchFamily="34" charset="0"/>
                <a:ea typeface="Inter" pitchFamily="34" charset="-122"/>
                <a:cs typeface="Inter" pitchFamily="34" charset="-120"/>
              </a:rPr>
              <a:t>Domain expert</a:t>
            </a:r>
            <a:endParaRPr lang="en-US" sz="950" dirty="0"/>
          </a:p>
        </p:txBody>
      </p:sp>
      <p:sp>
        <p:nvSpPr>
          <p:cNvPr id="8" name="Text 5"/>
          <p:cNvSpPr/>
          <p:nvPr/>
        </p:nvSpPr>
        <p:spPr>
          <a:xfrm>
            <a:off x="812800" y="4585295"/>
            <a:ext cx="1967362" cy="73977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6B645C"/>
                </a:solidFill>
                <a:latin typeface="Inter" pitchFamily="34" charset="0"/>
                <a:ea typeface="Inter" pitchFamily="34" charset="-122"/>
                <a:cs typeface="Inter" pitchFamily="34" charset="-120"/>
              </a:rPr>
              <a:t>Volunteer at Sputnik, for kids with disabilities. Mom of an autistic son.</a:t>
            </a:r>
            <a:endParaRPr lang="en-US" sz="1250" dirty="0"/>
          </a:p>
        </p:txBody>
      </p:sp>
      <p:sp>
        <p:nvSpPr>
          <p:cNvPr id="9" name="Shape 6"/>
          <p:cNvSpPr/>
          <p:nvPr/>
        </p:nvSpPr>
        <p:spPr>
          <a:xfrm>
            <a:off x="2976860" y="2798763"/>
            <a:ext cx="1910060" cy="0"/>
          </a:xfrm>
          <a:prstGeom prst="line">
            <a:avLst/>
          </a:prstGeom>
          <a:noFill/>
          <a:ln w="9525">
            <a:solidFill>
              <a:srgbClr val="0C0B0A">
                <a:alpha val="16000"/>
              </a:srgbClr>
            </a:solidFill>
            <a:prstDash val="solid"/>
          </a:ln>
        </p:spPr>
      </p:sp>
      <p:pic>
        <p:nvPicPr>
          <p:cNvPr id="10" name="Image 1" descr="Leonid (Leo) Kurdyukov">    </p:cNvPr>
          <p:cNvPicPr>
            <a:picLocks noChangeAspect="1"/>
          </p:cNvPicPr>
          <p:nvPr/>
        </p:nvPicPr>
        <p:blipFill>
          <a:blip r:embed="rId2"/>
          <a:srcRect l="0" r="0" t="0" b="0"/>
          <a:stretch/>
        </p:blipFill>
        <p:spPr>
          <a:xfrm>
            <a:off x="2976860" y="3032125"/>
            <a:ext cx="660400" cy="660400"/>
          </a:xfrm>
          <a:prstGeom prst="ellipse">
            <a:avLst/>
          </a:prstGeom>
        </p:spPr>
      </p:pic>
      <p:sp>
        <p:nvSpPr>
          <p:cNvPr id="11" name="Text 7"/>
          <p:cNvSpPr/>
          <p:nvPr/>
        </p:nvSpPr>
        <p:spPr>
          <a:xfrm>
            <a:off x="2976860" y="3819525"/>
            <a:ext cx="1967362" cy="520700"/>
          </a:xfrm>
          <a:prstGeom prst="rect">
            <a:avLst/>
          </a:prstGeom>
          <a:noFill/>
          <a:ln/>
        </p:spPr>
        <p:txBody>
          <a:bodyPr wrap="square" lIns="0" tIns="0" rIns="0" bIns="0" rtlCol="0" anchor="t">
            <a:normAutofit/>
          </a:bodyPr>
          <a:lstStyle/>
          <a:p>
            <a:pPr algn="l"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Leonid (Leo) Kurdyukov</a:t>
            </a:r>
            <a:endParaRPr lang="en-US" sz="1600" dirty="0"/>
          </a:p>
        </p:txBody>
      </p:sp>
      <p:sp>
        <p:nvSpPr>
          <p:cNvPr id="12" name="Text 8"/>
          <p:cNvSpPr/>
          <p:nvPr/>
        </p:nvSpPr>
        <p:spPr>
          <a:xfrm>
            <a:off x="2976860" y="4365625"/>
            <a:ext cx="1967362" cy="194270"/>
          </a:xfrm>
          <a:prstGeom prst="rect">
            <a:avLst/>
          </a:prstGeom>
          <a:noFill/>
          <a:ln/>
        </p:spPr>
        <p:txBody>
          <a:bodyPr wrap="square" lIns="0" tIns="0" rIns="0" bIns="0" rtlCol="0" anchor="t">
            <a:normAutofit/>
          </a:bodyPr>
          <a:lstStyle/>
          <a:p>
            <a:pPr algn="l" indent="0" marL="0">
              <a:lnSpc>
                <a:spcPts val="1330"/>
              </a:lnSpc>
              <a:buNone/>
            </a:pPr>
            <a:r>
              <a:rPr lang="en-US" sz="950" spc="20" kern="0" dirty="0">
                <a:solidFill>
                  <a:srgbClr val="6B645C"/>
                </a:solidFill>
                <a:latin typeface="Inter" pitchFamily="34" charset="0"/>
                <a:ea typeface="Inter" pitchFamily="34" charset="-122"/>
                <a:cs typeface="Inter" pitchFamily="34" charset="-120"/>
              </a:rPr>
              <a:t>Builder</a:t>
            </a:r>
            <a:endParaRPr lang="en-US" sz="950" dirty="0"/>
          </a:p>
        </p:txBody>
      </p:sp>
      <p:sp>
        <p:nvSpPr>
          <p:cNvPr id="13" name="Text 9"/>
          <p:cNvSpPr/>
          <p:nvPr/>
        </p:nvSpPr>
        <p:spPr>
          <a:xfrm>
            <a:off x="2976860" y="4585295"/>
            <a:ext cx="1967362" cy="73977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6B645C"/>
                </a:solidFill>
                <a:latin typeface="Inter" pitchFamily="34" charset="0"/>
                <a:ea typeface="Inter" pitchFamily="34" charset="-122"/>
                <a:cs typeface="Inter" pitchFamily="34" charset="-120"/>
              </a:rPr>
              <a:t>Senior PM in fintech. Shipped a first-to-market deposit product.</a:t>
            </a:r>
            <a:endParaRPr lang="en-US" sz="1250" dirty="0"/>
          </a:p>
        </p:txBody>
      </p:sp>
      <p:sp>
        <p:nvSpPr>
          <p:cNvPr id="14" name="Shape 10"/>
          <p:cNvSpPr/>
          <p:nvPr/>
        </p:nvSpPr>
        <p:spPr>
          <a:xfrm>
            <a:off x="5140920" y="2798763"/>
            <a:ext cx="1910110" cy="0"/>
          </a:xfrm>
          <a:prstGeom prst="line">
            <a:avLst/>
          </a:prstGeom>
          <a:noFill/>
          <a:ln w="9525">
            <a:solidFill>
              <a:srgbClr val="0C0B0A">
                <a:alpha val="16000"/>
              </a:srgbClr>
            </a:solidFill>
            <a:prstDash val="solid"/>
          </a:ln>
        </p:spPr>
      </p:sp>
      <p:pic>
        <p:nvPicPr>
          <p:cNvPr id="15" name="Image 2" descr="Vita Štefane">    </p:cNvPr>
          <p:cNvPicPr>
            <a:picLocks noChangeAspect="1"/>
          </p:cNvPicPr>
          <p:nvPr/>
        </p:nvPicPr>
        <p:blipFill>
          <a:blip r:embed="rId3"/>
          <a:srcRect l="18286" r="10286" t="11429" b="17143"/>
          <a:stretch/>
        </p:blipFill>
        <p:spPr>
          <a:xfrm>
            <a:off x="5140920" y="3032125"/>
            <a:ext cx="660400" cy="660400"/>
          </a:xfrm>
          <a:prstGeom prst="ellipse">
            <a:avLst/>
          </a:prstGeom>
        </p:spPr>
      </p:pic>
      <p:sp>
        <p:nvSpPr>
          <p:cNvPr id="16" name="Text 11"/>
          <p:cNvSpPr/>
          <p:nvPr/>
        </p:nvSpPr>
        <p:spPr>
          <a:xfrm>
            <a:off x="5140920" y="3819525"/>
            <a:ext cx="1967413" cy="520700"/>
          </a:xfrm>
          <a:prstGeom prst="rect">
            <a:avLst/>
          </a:prstGeom>
          <a:noFill/>
          <a:ln/>
        </p:spPr>
        <p:txBody>
          <a:bodyPr wrap="square" lIns="0" tIns="0" rIns="0" bIns="0" rtlCol="0" anchor="t">
            <a:normAutofit/>
          </a:bodyPr>
          <a:lstStyle/>
          <a:p>
            <a:pPr algn="l"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Vita Štefane</a:t>
            </a:r>
            <a:endParaRPr lang="en-US" sz="1600" dirty="0"/>
          </a:p>
        </p:txBody>
      </p:sp>
      <p:sp>
        <p:nvSpPr>
          <p:cNvPr id="17" name="Text 12"/>
          <p:cNvSpPr/>
          <p:nvPr/>
        </p:nvSpPr>
        <p:spPr>
          <a:xfrm>
            <a:off x="5140920" y="4365625"/>
            <a:ext cx="1967413" cy="194270"/>
          </a:xfrm>
          <a:prstGeom prst="rect">
            <a:avLst/>
          </a:prstGeom>
          <a:noFill/>
          <a:ln/>
        </p:spPr>
        <p:txBody>
          <a:bodyPr wrap="square" lIns="0" tIns="0" rIns="0" bIns="0" rtlCol="0" anchor="t">
            <a:normAutofit/>
          </a:bodyPr>
          <a:lstStyle/>
          <a:p>
            <a:pPr algn="l" indent="0" marL="0">
              <a:lnSpc>
                <a:spcPts val="1330"/>
              </a:lnSpc>
              <a:buNone/>
            </a:pPr>
            <a:r>
              <a:rPr lang="en-US" sz="950" spc="20" kern="0" dirty="0">
                <a:solidFill>
                  <a:srgbClr val="6B645C"/>
                </a:solidFill>
                <a:latin typeface="Inter" pitchFamily="34" charset="0"/>
                <a:ea typeface="Inter" pitchFamily="34" charset="-122"/>
                <a:cs typeface="Inter" pitchFamily="34" charset="-120"/>
              </a:rPr>
              <a:t>Product &amp; design</a:t>
            </a:r>
            <a:endParaRPr lang="en-US" sz="950" dirty="0"/>
          </a:p>
        </p:txBody>
      </p:sp>
      <p:sp>
        <p:nvSpPr>
          <p:cNvPr id="18" name="Text 13"/>
          <p:cNvSpPr/>
          <p:nvPr/>
        </p:nvSpPr>
        <p:spPr>
          <a:xfrm>
            <a:off x="5140920" y="4585295"/>
            <a:ext cx="1967413" cy="73977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6B645C"/>
                </a:solidFill>
                <a:latin typeface="Inter" pitchFamily="34" charset="0"/>
                <a:ea typeface="Inter" pitchFamily="34" charset="-122"/>
                <a:cs typeface="Inter" pitchFamily="34" charset="-120"/>
              </a:rPr>
              <a:t>Product design partner for B2B startups: design, strategy, research.</a:t>
            </a:r>
            <a:endParaRPr lang="en-US" sz="1250" dirty="0"/>
          </a:p>
        </p:txBody>
      </p:sp>
      <p:sp>
        <p:nvSpPr>
          <p:cNvPr id="19" name="Shape 14"/>
          <p:cNvSpPr/>
          <p:nvPr/>
        </p:nvSpPr>
        <p:spPr>
          <a:xfrm>
            <a:off x="7305030" y="2798763"/>
            <a:ext cx="1910060" cy="0"/>
          </a:xfrm>
          <a:prstGeom prst="line">
            <a:avLst/>
          </a:prstGeom>
          <a:noFill/>
          <a:ln w="9525">
            <a:solidFill>
              <a:srgbClr val="0C0B0A">
                <a:alpha val="16000"/>
              </a:srgbClr>
            </a:solidFill>
            <a:prstDash val="solid"/>
          </a:ln>
        </p:spPr>
      </p:sp>
      <p:pic>
        <p:nvPicPr>
          <p:cNvPr id="20" name="Image 3" descr="Ran (Vivian) Wei">    </p:cNvPr>
          <p:cNvPicPr>
            <a:picLocks noChangeAspect="1"/>
          </p:cNvPicPr>
          <p:nvPr/>
        </p:nvPicPr>
        <p:blipFill>
          <a:blip r:embed="rId4"/>
          <a:srcRect l="0" r="0" t="0" b="0"/>
          <a:stretch/>
        </p:blipFill>
        <p:spPr>
          <a:xfrm>
            <a:off x="7305030" y="3032125"/>
            <a:ext cx="660400" cy="660400"/>
          </a:xfrm>
          <a:prstGeom prst="ellipse">
            <a:avLst/>
          </a:prstGeom>
        </p:spPr>
      </p:pic>
      <p:sp>
        <p:nvSpPr>
          <p:cNvPr id="21" name="Text 15"/>
          <p:cNvSpPr/>
          <p:nvPr/>
        </p:nvSpPr>
        <p:spPr>
          <a:xfrm>
            <a:off x="7305030" y="3819525"/>
            <a:ext cx="1967362" cy="520700"/>
          </a:xfrm>
          <a:prstGeom prst="rect">
            <a:avLst/>
          </a:prstGeom>
          <a:noFill/>
          <a:ln/>
        </p:spPr>
        <p:txBody>
          <a:bodyPr wrap="square" lIns="0" tIns="0" rIns="0" bIns="0" rtlCol="0" anchor="t">
            <a:normAutofit/>
          </a:bodyPr>
          <a:lstStyle/>
          <a:p>
            <a:pPr algn="l"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Ran (Vivian) Wei</a:t>
            </a:r>
            <a:endParaRPr lang="en-US" sz="1600" dirty="0"/>
          </a:p>
        </p:txBody>
      </p:sp>
      <p:sp>
        <p:nvSpPr>
          <p:cNvPr id="22" name="Text 16"/>
          <p:cNvSpPr/>
          <p:nvPr/>
        </p:nvSpPr>
        <p:spPr>
          <a:xfrm>
            <a:off x="7305030" y="4365625"/>
            <a:ext cx="1967362" cy="194270"/>
          </a:xfrm>
          <a:prstGeom prst="rect">
            <a:avLst/>
          </a:prstGeom>
          <a:noFill/>
          <a:ln/>
        </p:spPr>
        <p:txBody>
          <a:bodyPr wrap="square" lIns="0" tIns="0" rIns="0" bIns="0" rtlCol="0" anchor="t">
            <a:normAutofit/>
          </a:bodyPr>
          <a:lstStyle/>
          <a:p>
            <a:pPr algn="l" indent="0" marL="0">
              <a:lnSpc>
                <a:spcPts val="1330"/>
              </a:lnSpc>
              <a:buNone/>
            </a:pPr>
            <a:r>
              <a:rPr lang="en-US" sz="950" spc="20" kern="0" dirty="0">
                <a:solidFill>
                  <a:srgbClr val="6B645C"/>
                </a:solidFill>
                <a:latin typeface="Inter" pitchFamily="34" charset="0"/>
                <a:ea typeface="Inter" pitchFamily="34" charset="-122"/>
                <a:cs typeface="Inter" pitchFamily="34" charset="-120"/>
              </a:rPr>
              <a:t>Builder</a:t>
            </a:r>
            <a:endParaRPr lang="en-US" sz="950" dirty="0"/>
          </a:p>
        </p:txBody>
      </p:sp>
      <p:sp>
        <p:nvSpPr>
          <p:cNvPr id="23" name="Text 17"/>
          <p:cNvSpPr/>
          <p:nvPr/>
        </p:nvSpPr>
        <p:spPr>
          <a:xfrm>
            <a:off x="7305030" y="4585295"/>
            <a:ext cx="1967362" cy="501650"/>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6B645C"/>
                </a:solidFill>
                <a:latin typeface="Inter" pitchFamily="34" charset="0"/>
                <a:ea typeface="Inter" pitchFamily="34" charset="-122"/>
                <a:cs typeface="Inter" pitchFamily="34" charset="-120"/>
              </a:rPr>
              <a:t>Software engineer with 5+ years of experience.</a:t>
            </a:r>
            <a:endParaRPr lang="en-US" sz="1250" dirty="0"/>
          </a:p>
        </p:txBody>
      </p:sp>
      <p:sp>
        <p:nvSpPr>
          <p:cNvPr id="24" name="Shape 18"/>
          <p:cNvSpPr/>
          <p:nvPr/>
        </p:nvSpPr>
        <p:spPr>
          <a:xfrm>
            <a:off x="9469090" y="2798763"/>
            <a:ext cx="1910060" cy="0"/>
          </a:xfrm>
          <a:prstGeom prst="line">
            <a:avLst/>
          </a:prstGeom>
          <a:noFill/>
          <a:ln w="9525">
            <a:solidFill>
              <a:srgbClr val="0C0B0A">
                <a:alpha val="16000"/>
              </a:srgbClr>
            </a:solidFill>
            <a:prstDash val="solid"/>
          </a:ln>
        </p:spPr>
      </p:sp>
      <p:pic>
        <p:nvPicPr>
          <p:cNvPr id="25" name="Image 4" descr="Kim My Duyen Nguyen">    </p:cNvPr>
          <p:cNvPicPr>
            <a:picLocks noChangeAspect="1"/>
          </p:cNvPicPr>
          <p:nvPr/>
        </p:nvPicPr>
        <p:blipFill>
          <a:blip r:embed="rId5"/>
          <a:srcRect l="0" r="0" t="0" b="0"/>
          <a:stretch/>
        </p:blipFill>
        <p:spPr>
          <a:xfrm>
            <a:off x="9469090" y="3032125"/>
            <a:ext cx="660400" cy="660400"/>
          </a:xfrm>
          <a:prstGeom prst="ellipse">
            <a:avLst/>
          </a:prstGeom>
        </p:spPr>
      </p:pic>
      <p:sp>
        <p:nvSpPr>
          <p:cNvPr id="26" name="Text 19"/>
          <p:cNvSpPr/>
          <p:nvPr/>
        </p:nvSpPr>
        <p:spPr>
          <a:xfrm>
            <a:off x="9469090" y="3819525"/>
            <a:ext cx="1967362" cy="520700"/>
          </a:xfrm>
          <a:prstGeom prst="rect">
            <a:avLst/>
          </a:prstGeom>
          <a:noFill/>
          <a:ln/>
        </p:spPr>
        <p:txBody>
          <a:bodyPr wrap="square" lIns="0" tIns="0" rIns="0" bIns="0" rtlCol="0" anchor="t">
            <a:normAutofit/>
          </a:bodyPr>
          <a:lstStyle/>
          <a:p>
            <a:pPr algn="l"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Kim My Duyen Nguyen</a:t>
            </a:r>
            <a:endParaRPr lang="en-US" sz="1600" dirty="0"/>
          </a:p>
        </p:txBody>
      </p:sp>
      <p:sp>
        <p:nvSpPr>
          <p:cNvPr id="27" name="Text 20"/>
          <p:cNvSpPr/>
          <p:nvPr/>
        </p:nvSpPr>
        <p:spPr>
          <a:xfrm>
            <a:off x="9469090" y="4365625"/>
            <a:ext cx="1967362" cy="194270"/>
          </a:xfrm>
          <a:prstGeom prst="rect">
            <a:avLst/>
          </a:prstGeom>
          <a:noFill/>
          <a:ln/>
        </p:spPr>
        <p:txBody>
          <a:bodyPr wrap="square" lIns="0" tIns="0" rIns="0" bIns="0" rtlCol="0" anchor="t">
            <a:normAutofit/>
          </a:bodyPr>
          <a:lstStyle/>
          <a:p>
            <a:pPr algn="l" indent="0" marL="0">
              <a:lnSpc>
                <a:spcPts val="1330"/>
              </a:lnSpc>
              <a:buNone/>
            </a:pPr>
            <a:r>
              <a:rPr lang="en-US" sz="950" spc="20" kern="0" dirty="0">
                <a:solidFill>
                  <a:srgbClr val="6B645C"/>
                </a:solidFill>
                <a:latin typeface="Inter" pitchFamily="34" charset="0"/>
                <a:ea typeface="Inter" pitchFamily="34" charset="-122"/>
                <a:cs typeface="Inter" pitchFamily="34" charset="-120"/>
              </a:rPr>
              <a:t>Founder</a:t>
            </a:r>
            <a:endParaRPr lang="en-US" sz="950" dirty="0"/>
          </a:p>
        </p:txBody>
      </p:sp>
      <p:sp>
        <p:nvSpPr>
          <p:cNvPr id="28" name="Text 21"/>
          <p:cNvSpPr/>
          <p:nvPr/>
        </p:nvSpPr>
        <p:spPr>
          <a:xfrm>
            <a:off x="9469090" y="4585295"/>
            <a:ext cx="1967362" cy="73977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6B645C"/>
                </a:solidFill>
                <a:latin typeface="Inter" pitchFamily="34" charset="0"/>
                <a:ea typeface="Inter" pitchFamily="34" charset="-122"/>
                <a:cs typeface="Inter" pitchFamily="34" charset="-120"/>
              </a:rPr>
              <a:t>Builds lasting bridges between brands, people and cultures.</a:t>
            </a:r>
            <a:endParaRPr lang="en-US" sz="1250" dirty="0"/>
          </a:p>
        </p:txBody>
      </p:sp>
      <p:sp>
        <p:nvSpPr>
          <p:cNvPr id="29" name="Text 22"/>
          <p:cNvSpPr/>
          <p:nvPr/>
        </p:nvSpPr>
        <p:spPr>
          <a:xfrm>
            <a:off x="812800" y="6394450"/>
            <a:ext cx="3924300" cy="133350"/>
          </a:xfrm>
          <a:prstGeom prst="rect">
            <a:avLst/>
          </a:prstGeom>
          <a:noFill/>
          <a:ln/>
        </p:spPr>
        <p:txBody>
          <a:bodyPr wrap="square" lIns="0" tIns="0" rIns="0" bIns="0" rtlCol="0" anchor="t">
            <a:normAutofit/>
          </a:bodyPr>
          <a:lstStyle/>
          <a:p>
            <a:pPr algn="l" indent="0" marL="0">
              <a:lnSpc>
                <a:spcPts val="850"/>
              </a:lnSpc>
              <a:buNone/>
            </a:pPr>
            <a:r>
              <a:rPr lang="en-US" sz="850" b="1" spc="15" kern="0" dirty="0">
                <a:solidFill>
                  <a:srgbClr val="0C0B0A"/>
                </a:solidFill>
                <a:latin typeface="Inter" pitchFamily="34" charset="0"/>
                <a:ea typeface="Inter" pitchFamily="34" charset="-122"/>
                <a:cs typeface="Inter" pitchFamily="34" charset="-120"/>
              </a:rPr>
              <a:t>Taxability</a:t>
            </a:r>
            <a:endParaRPr lang="en-US" sz="850" dirty="0"/>
          </a:p>
        </p:txBody>
      </p:sp>
      <p:sp>
        <p:nvSpPr>
          <p:cNvPr id="30" name="Text 23"/>
          <p:cNvSpPr/>
          <p:nvPr/>
        </p:nvSpPr>
        <p:spPr>
          <a:xfrm>
            <a:off x="10058400" y="6394450"/>
            <a:ext cx="1320800" cy="133350"/>
          </a:xfrm>
          <a:prstGeom prst="rect">
            <a:avLst/>
          </a:prstGeom>
          <a:noFill/>
          <a:ln/>
        </p:spPr>
        <p:txBody>
          <a:bodyPr wrap="square" lIns="0" tIns="0" rIns="0" bIns="0" rtlCol="0" anchor="t">
            <a:normAutofit/>
          </a:bodyPr>
          <a:lstStyle/>
          <a:p>
            <a:pPr algn="r" indent="0" marL="0">
              <a:lnSpc>
                <a:spcPts val="850"/>
              </a:lnSpc>
              <a:buNone/>
            </a:pPr>
            <a:r>
              <a:rPr lang="en-US" sz="850" spc="15" kern="0" dirty="0">
                <a:solidFill>
                  <a:srgbClr val="6B645C"/>
                </a:solidFill>
                <a:latin typeface="Inter" pitchFamily="34" charset="0"/>
                <a:ea typeface="Inter" pitchFamily="34" charset="-122"/>
                <a:cs typeface="Inter" pitchFamily="34" charset="-120"/>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ADEE68"/>
        </a:solidFill>
      </p:bgPr>
    </p:bg>
    <p:spTree>
      <p:nvGrpSpPr>
        <p:cNvPr id="1" name=""/>
        <p:cNvGrpSpPr/>
        <p:nvPr/>
      </p:nvGrpSpPr>
      <p:grpSpPr>
        <a:xfrm>
          <a:off x="0" y="0"/>
          <a:ext cx="0" cy="0"/>
          <a:chOff x="0" y="0"/>
          <a:chExt cx="0" cy="0"/>
        </a:xfrm>
      </p:grpSpPr>
      <p:sp>
        <p:nvSpPr>
          <p:cNvPr id="2" name="Text 0"/>
          <p:cNvSpPr/>
          <p:nvPr/>
        </p:nvSpPr>
        <p:spPr>
          <a:xfrm>
            <a:off x="812800" y="609600"/>
            <a:ext cx="3924300" cy="146050"/>
          </a:xfrm>
          <a:prstGeom prst="rect">
            <a:avLst/>
          </a:prstGeom>
          <a:noFill/>
          <a:ln/>
        </p:spPr>
        <p:txBody>
          <a:bodyPr wrap="square" lIns="0" tIns="0" rIns="0" bIns="0" rtlCol="0" anchor="t">
            <a:normAutofit/>
          </a:bodyPr>
          <a:lstStyle/>
          <a:p>
            <a:pPr algn="l" indent="0" marL="0">
              <a:lnSpc>
                <a:spcPts val="950"/>
              </a:lnSpc>
              <a:buNone/>
            </a:pPr>
            <a:r>
              <a:rPr lang="en-US" sz="950" b="1" spc="20" kern="0" dirty="0">
                <a:solidFill>
                  <a:srgbClr val="0C0B0A"/>
                </a:solidFill>
                <a:latin typeface="Inter" pitchFamily="34" charset="0"/>
                <a:ea typeface="Inter" pitchFamily="34" charset="-122"/>
                <a:cs typeface="Inter" pitchFamily="34" charset="-120"/>
              </a:rPr>
              <a:t>Taxability</a:t>
            </a:r>
            <a:endParaRPr lang="en-US" sz="950" dirty="0"/>
          </a:p>
        </p:txBody>
      </p:sp>
      <p:sp>
        <p:nvSpPr>
          <p:cNvPr id="3" name="Text 1"/>
          <p:cNvSpPr/>
          <p:nvPr>
            <p:ph type="title"/>
          </p:nvPr>
        </p:nvSpPr>
        <p:spPr>
          <a:xfrm>
            <a:off x="812800" y="1587500"/>
            <a:ext cx="9156700" cy="2699990"/>
          </a:xfrm>
          <a:prstGeom prst="rect">
            <a:avLst/>
          </a:prstGeom>
          <a:noFill/>
          <a:ln/>
        </p:spPr>
        <p:txBody>
          <a:bodyPr wrap="square" lIns="0" tIns="0" rIns="0" bIns="0" rtlCol="0" anchor="t">
            <a:normAutofit/>
          </a:bodyPr>
          <a:lstStyle/>
          <a:p>
            <a:pPr algn="l" indent="0" marL="0">
              <a:lnSpc>
                <a:spcPts val="7020"/>
              </a:lnSpc>
              <a:buNone/>
            </a:pPr>
            <a:r>
              <a:rPr lang="en-US" sz="7800" b="1" i="0" spc="-150" kern="0" dirty="0">
                <a:solidFill>
                  <a:srgbClr val="0C0B0A"/>
                </a:solidFill>
                <a:latin typeface="Barlow Condensed" pitchFamily="34" charset="0"/>
                <a:ea typeface="Barlow Condensed" pitchFamily="34" charset="-122"/>
                <a:cs typeface="Barlow Condensed" pitchFamily="34" charset="-120"/>
              </a:rPr>
              <a:t>Let’s build a future for kids with special needs, now</a:t>
            </a:r>
            <a:endParaRPr lang="en-US" sz="7800" dirty="0"/>
          </a:p>
        </p:txBody>
      </p:sp>
      <p:sp>
        <p:nvSpPr>
          <p:cNvPr id="4" name="Shape 2"/>
          <p:cNvSpPr/>
          <p:nvPr/>
        </p:nvSpPr>
        <p:spPr>
          <a:xfrm>
            <a:off x="812800" y="5142607"/>
            <a:ext cx="3285034" cy="0"/>
          </a:xfrm>
          <a:prstGeom prst="line">
            <a:avLst/>
          </a:prstGeom>
          <a:noFill/>
          <a:ln w="9525">
            <a:solidFill>
              <a:srgbClr val="0C0B0A">
                <a:alpha val="30000"/>
              </a:srgbClr>
            </a:solidFill>
            <a:prstDash val="solid"/>
          </a:ln>
        </p:spPr>
      </p:sp>
      <p:sp>
        <p:nvSpPr>
          <p:cNvPr id="5" name="Text 3"/>
          <p:cNvSpPr/>
          <p:nvPr/>
        </p:nvSpPr>
        <p:spPr>
          <a:xfrm>
            <a:off x="812800" y="5325170"/>
            <a:ext cx="3383585" cy="194270"/>
          </a:xfrm>
          <a:prstGeom prst="rect">
            <a:avLst/>
          </a:prstGeom>
          <a:noFill/>
          <a:ln/>
        </p:spPr>
        <p:txBody>
          <a:bodyPr wrap="square" lIns="0" tIns="0" rIns="0" bIns="0" rtlCol="0" anchor="t">
            <a:normAutofit/>
          </a:bodyPr>
          <a:lstStyle/>
          <a:p>
            <a:pPr algn="l" indent="0" marL="0">
              <a:lnSpc>
                <a:spcPts val="1330"/>
              </a:lnSpc>
              <a:buNone/>
            </a:pPr>
            <a:r>
              <a:rPr lang="en-US" sz="950" spc="20" kern="0" dirty="0">
                <a:solidFill>
                  <a:srgbClr val="394B24"/>
                </a:solidFill>
                <a:latin typeface="Inter" pitchFamily="34" charset="0"/>
                <a:ea typeface="Inter" pitchFamily="34" charset="-122"/>
                <a:cs typeface="Inter" pitchFamily="34" charset="-120"/>
              </a:rPr>
              <a:t>How</a:t>
            </a:r>
            <a:endParaRPr lang="en-US" sz="950" dirty="0"/>
          </a:p>
        </p:txBody>
      </p:sp>
      <p:sp>
        <p:nvSpPr>
          <p:cNvPr id="6" name="Text 4"/>
          <p:cNvSpPr/>
          <p:nvPr/>
        </p:nvSpPr>
        <p:spPr>
          <a:xfrm>
            <a:off x="812800" y="5557540"/>
            <a:ext cx="3383585" cy="513060"/>
          </a:xfrm>
          <a:prstGeom prst="rect">
            <a:avLst/>
          </a:prstGeom>
          <a:noFill/>
          <a:ln/>
        </p:spPr>
        <p:txBody>
          <a:bodyPr wrap="square" lIns="0" tIns="0" rIns="0" bIns="0" rtlCol="0" anchor="t">
            <a:normAutofit/>
          </a:bodyPr>
          <a:lstStyle/>
          <a:p>
            <a:pPr algn="l"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Give parents their time and money back</a:t>
            </a:r>
            <a:endParaRPr lang="en-US" sz="1600" dirty="0"/>
          </a:p>
        </p:txBody>
      </p:sp>
      <p:sp>
        <p:nvSpPr>
          <p:cNvPr id="7" name="Shape 5"/>
          <p:cNvSpPr/>
          <p:nvPr/>
        </p:nvSpPr>
        <p:spPr>
          <a:xfrm>
            <a:off x="4453434" y="5142607"/>
            <a:ext cx="3285083" cy="0"/>
          </a:xfrm>
          <a:prstGeom prst="line">
            <a:avLst/>
          </a:prstGeom>
          <a:noFill/>
          <a:ln w="9525">
            <a:solidFill>
              <a:srgbClr val="0C0B0A">
                <a:alpha val="30000"/>
              </a:srgbClr>
            </a:solidFill>
            <a:prstDash val="solid"/>
          </a:ln>
        </p:spPr>
      </p:sp>
      <p:sp>
        <p:nvSpPr>
          <p:cNvPr id="8" name="Text 6"/>
          <p:cNvSpPr/>
          <p:nvPr/>
        </p:nvSpPr>
        <p:spPr>
          <a:xfrm>
            <a:off x="4453434" y="5325170"/>
            <a:ext cx="3383636" cy="194270"/>
          </a:xfrm>
          <a:prstGeom prst="rect">
            <a:avLst/>
          </a:prstGeom>
          <a:noFill/>
          <a:ln/>
        </p:spPr>
        <p:txBody>
          <a:bodyPr wrap="square" lIns="0" tIns="0" rIns="0" bIns="0" rtlCol="0" anchor="t">
            <a:normAutofit/>
          </a:bodyPr>
          <a:lstStyle/>
          <a:p>
            <a:pPr algn="l" indent="0" marL="0">
              <a:lnSpc>
                <a:spcPts val="1330"/>
              </a:lnSpc>
              <a:buNone/>
            </a:pPr>
            <a:r>
              <a:rPr lang="en-US" sz="950" spc="20" kern="0" dirty="0">
                <a:solidFill>
                  <a:srgbClr val="394B24"/>
                </a:solidFill>
                <a:latin typeface="Inter" pitchFamily="34" charset="0"/>
                <a:ea typeface="Inter" pitchFamily="34" charset="-122"/>
                <a:cs typeface="Inter" pitchFamily="34" charset="-120"/>
              </a:rPr>
              <a:t>Next</a:t>
            </a:r>
            <a:endParaRPr lang="en-US" sz="950" dirty="0"/>
          </a:p>
        </p:txBody>
      </p:sp>
      <p:sp>
        <p:nvSpPr>
          <p:cNvPr id="9" name="Text 7"/>
          <p:cNvSpPr/>
          <p:nvPr/>
        </p:nvSpPr>
        <p:spPr>
          <a:xfrm>
            <a:off x="4453434" y="5557540"/>
            <a:ext cx="3383636" cy="269230"/>
          </a:xfrm>
          <a:prstGeom prst="rect">
            <a:avLst/>
          </a:prstGeom>
          <a:noFill/>
          <a:ln/>
        </p:spPr>
        <p:txBody>
          <a:bodyPr wrap="square" lIns="0" tIns="0" rIns="0" bIns="0" rtlCol="0" anchor="t">
            <a:normAutofit/>
          </a:bodyPr>
          <a:lstStyle/>
          <a:p>
            <a:pPr algn="l"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Pilot with 100 families</a:t>
            </a:r>
            <a:endParaRPr lang="en-US" sz="1600" dirty="0"/>
          </a:p>
        </p:txBody>
      </p:sp>
      <p:sp>
        <p:nvSpPr>
          <p:cNvPr id="10" name="Shape 8"/>
          <p:cNvSpPr/>
          <p:nvPr/>
        </p:nvSpPr>
        <p:spPr>
          <a:xfrm>
            <a:off x="8094117" y="5142607"/>
            <a:ext cx="3285034" cy="0"/>
          </a:xfrm>
          <a:prstGeom prst="line">
            <a:avLst/>
          </a:prstGeom>
          <a:noFill/>
          <a:ln w="9525">
            <a:solidFill>
              <a:srgbClr val="0C0B0A">
                <a:alpha val="30000"/>
              </a:srgbClr>
            </a:solidFill>
            <a:prstDash val="solid"/>
          </a:ln>
        </p:spPr>
      </p:sp>
      <p:sp>
        <p:nvSpPr>
          <p:cNvPr id="11" name="Text 9"/>
          <p:cNvSpPr/>
          <p:nvPr/>
        </p:nvSpPr>
        <p:spPr>
          <a:xfrm>
            <a:off x="8094117" y="5325170"/>
            <a:ext cx="3383585" cy="194270"/>
          </a:xfrm>
          <a:prstGeom prst="rect">
            <a:avLst/>
          </a:prstGeom>
          <a:noFill/>
          <a:ln/>
        </p:spPr>
        <p:txBody>
          <a:bodyPr wrap="square" lIns="0" tIns="0" rIns="0" bIns="0" rtlCol="0" anchor="t">
            <a:normAutofit/>
          </a:bodyPr>
          <a:lstStyle/>
          <a:p>
            <a:pPr algn="l" indent="0" marL="0">
              <a:lnSpc>
                <a:spcPts val="1330"/>
              </a:lnSpc>
              <a:buNone/>
            </a:pPr>
            <a:r>
              <a:rPr lang="en-US" sz="950" spc="20" kern="0" dirty="0">
                <a:solidFill>
                  <a:srgbClr val="394B24"/>
                </a:solidFill>
                <a:latin typeface="Inter" pitchFamily="34" charset="0"/>
                <a:ea typeface="Inter" pitchFamily="34" charset="-122"/>
                <a:cs typeface="Inter" pitchFamily="34" charset="-120"/>
              </a:rPr>
              <a:t>Thank you</a:t>
            </a:r>
            <a:endParaRPr lang="en-US" sz="950" dirty="0"/>
          </a:p>
        </p:txBody>
      </p:sp>
      <p:sp>
        <p:nvSpPr>
          <p:cNvPr id="12" name="Text 10"/>
          <p:cNvSpPr/>
          <p:nvPr/>
        </p:nvSpPr>
        <p:spPr>
          <a:xfrm>
            <a:off x="8094117" y="5557540"/>
            <a:ext cx="3383585" cy="269230"/>
          </a:xfrm>
          <a:prstGeom prst="rect">
            <a:avLst/>
          </a:prstGeom>
          <a:noFill/>
          <a:ln/>
        </p:spPr>
        <p:txBody>
          <a:bodyPr wrap="square" lIns="0" tIns="0" rIns="0" bIns="0" rtlCol="0" anchor="t">
            <a:normAutofit/>
          </a:bodyPr>
          <a:lstStyle/>
          <a:p>
            <a:pPr algn="l" indent="0" marL="0">
              <a:lnSpc>
                <a:spcPts val="1920"/>
              </a:lnSpc>
              <a:buNone/>
            </a:pPr>
            <a:r>
              <a:rPr lang="en-US" sz="1600" b="1" spc="-25" kern="0" dirty="0">
                <a:solidFill>
                  <a:srgbClr val="0C0B0A"/>
                </a:solidFill>
                <a:latin typeface="Inter" pitchFamily="34" charset="0"/>
                <a:ea typeface="Inter" pitchFamily="34" charset="-122"/>
                <a:cs typeface="Inter" pitchFamily="34" charset="-120"/>
              </a:rPr>
              <a:t>Julia Armenat · 5 o’Claude</a:t>
            </a:r>
            <a:endParaRPr lang="en-US" sz="1600" dirty="0"/>
          </a:p>
        </p:txBody>
      </p:sp>
    </p:spTree>
  </p:cSld>
  <p:clrMapOvr>
    <a:masterClrMapping/>
  </p:clrMapOvr>
</p:sld>
</file>

<file path=ppt/theme/theme1.xml><?xml version="1.0" encoding="utf-8"?>
<a:theme xmlns:a="http://schemas.openxmlformats.org/drawingml/2006/main" name="Taxability – Video Pitch">
  <a:themeElements>
    <a:clrScheme name="Taxability – Video Pitch">
      <a:dk1>
        <a:srgbClr val="0C0B0A"/>
      </a:dk1>
      <a:lt1>
        <a:srgbClr val="FDF8F2"/>
      </a:lt1>
      <a:dk2>
        <a:srgbClr val="484644"/>
      </a:dk2>
      <a:lt2>
        <a:srgbClr val="E5E0DB"/>
      </a:lt2>
      <a:accent1>
        <a:srgbClr val="394B24"/>
      </a:accent1>
      <a:accent2>
        <a:srgbClr val="CEF5A4"/>
      </a:accent2>
      <a:accent3>
        <a:srgbClr val="ADEE68"/>
      </a:accent3>
      <a:accent4>
        <a:srgbClr val="ECFFC7"/>
      </a:accent4>
      <a:accent5>
        <a:srgbClr val="154618"/>
      </a:accent5>
      <a:accent6>
        <a:srgbClr val="6B645C"/>
      </a:accent6>
      <a:hlink>
        <a:srgbClr val="0563C1"/>
      </a:hlink>
      <a:folHlink>
        <a:srgbClr val="954F72"/>
      </a:folHlink>
    </a:clrScheme>
    <a:fontScheme name="Taxability – Video Pitch">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Taxability – Video Pitch</dc:title>
  <dc:subject/>
  <dc:creator/>
  <cp:lastModifiedBy/>
  <cp:revision>1</cp:revision>
  <dcterms:created xsi:type="dcterms:W3CDTF">2026-10-17T13:14:45Z</dcterms:created>
  <dcterms:modified xsi:type="dcterms:W3CDTF">2026-10-17T13:14:45Z</dcterms:modified>
</cp:coreProperties>
</file>